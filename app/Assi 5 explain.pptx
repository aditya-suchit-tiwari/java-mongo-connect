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56" r:id="rId6"/>
    <p:sldId id="261" r:id="rId7"/>
    <p:sldId id="262" r:id="rId8"/>
    <p:sldId id="263" r:id="rId9"/>
    <p:sldId id="264" r:id="rId10"/>
    <p:sldId id="276" r:id="rId11"/>
    <p:sldId id="277"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1" d="100"/>
          <a:sy n="91" d="100"/>
        </p:scale>
        <p:origin x="5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3618D62-4CD8-4248-B21A-8D8E3FF6979A}"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2397630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618D62-4CD8-4248-B21A-8D8E3FF6979A}"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729219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618D62-4CD8-4248-B21A-8D8E3FF6979A}"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1214304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3618D62-4CD8-4248-B21A-8D8E3FF6979A}" type="datetimeFigureOut">
              <a:rPr lang="en-IN" smtClean="0"/>
              <a:t>07-08-2025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3994544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3618D62-4CD8-4248-B21A-8D8E3FF6979A}" type="datetimeFigureOut">
              <a:rPr lang="en-IN" smtClean="0"/>
              <a:t>07-08-2025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1821974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3618D62-4CD8-4248-B21A-8D8E3FF6979A}" type="datetimeFigureOut">
              <a:rPr lang="en-IN" smtClean="0"/>
              <a:t>07-08-2025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1910211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618D62-4CD8-4248-B21A-8D8E3FF6979A}" type="datetimeFigureOut">
              <a:rPr lang="en-IN" smtClean="0"/>
              <a:t>07-08-2025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1940981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618D62-4CD8-4248-B21A-8D8E3FF6979A}" type="datetimeFigureOut">
              <a:rPr lang="en-IN" smtClean="0"/>
              <a:t>07-08-2025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378601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618D62-4CD8-4248-B21A-8D8E3FF6979A}" type="datetimeFigureOut">
              <a:rPr lang="en-IN" smtClean="0"/>
              <a:t>07-08-2025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1903125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618D62-4CD8-4248-B21A-8D8E3FF6979A}"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4104689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618D62-4CD8-4248-B21A-8D8E3FF6979A}" type="datetimeFigureOut">
              <a:rPr lang="en-IN" smtClean="0"/>
              <a:t>07-08-2025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0097AD-11A7-4F0B-9644-786E20EACD3D}" type="slidenum">
              <a:rPr lang="en-IN" smtClean="0"/>
              <a:t>‹#›</a:t>
            </a:fld>
            <a:endParaRPr lang="en-IN"/>
          </a:p>
        </p:txBody>
      </p:sp>
    </p:spTree>
    <p:extLst>
      <p:ext uri="{BB962C8B-B14F-4D97-AF65-F5344CB8AC3E}">
        <p14:creationId xmlns:p14="http://schemas.microsoft.com/office/powerpoint/2010/main" val="341020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618D62-4CD8-4248-B21A-8D8E3FF6979A}" type="datetimeFigureOut">
              <a:rPr lang="en-IN" smtClean="0"/>
              <a:t>07-08-2025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0097AD-11A7-4F0B-9644-786E20EACD3D}" type="slidenum">
              <a:rPr lang="en-IN" smtClean="0"/>
              <a:t>‹#›</a:t>
            </a:fld>
            <a:endParaRPr lang="en-IN"/>
          </a:p>
        </p:txBody>
      </p:sp>
    </p:spTree>
    <p:extLst>
      <p:ext uri="{BB962C8B-B14F-4D97-AF65-F5344CB8AC3E}">
        <p14:creationId xmlns:p14="http://schemas.microsoft.com/office/powerpoint/2010/main" val="3185094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3453" y="679871"/>
            <a:ext cx="10515600" cy="4351338"/>
          </a:xfrm>
        </p:spPr>
        <p:txBody>
          <a:bodyPr>
            <a:normAutofit fontScale="77500" lnSpcReduction="20000"/>
          </a:bodyPr>
          <a:lstStyle/>
          <a:p>
            <a:r>
              <a:rPr lang="en-IN" dirty="0"/>
              <a:t>PL/SQL Introduction </a:t>
            </a:r>
          </a:p>
          <a:p>
            <a:r>
              <a:rPr lang="en-IN" dirty="0"/>
              <a:t>•PL/SQL is a combination of SQL along with the procedural features of programming languages. </a:t>
            </a:r>
          </a:p>
          <a:p>
            <a:r>
              <a:rPr lang="en-IN" dirty="0"/>
              <a:t>•Basic Syntax of PL/SQL which is a </a:t>
            </a:r>
            <a:r>
              <a:rPr lang="en-IN" b="1" dirty="0"/>
              <a:t>block-structured </a:t>
            </a:r>
            <a:r>
              <a:rPr lang="en-IN" dirty="0"/>
              <a:t>language; this means that the PL/SQL programs are divided and written in logical blocks of code. Each block consists of three sub-parts </a:t>
            </a:r>
          </a:p>
          <a:p>
            <a:r>
              <a:rPr lang="en-IN" dirty="0"/>
              <a:t>•Every PL/SQL statement ends with a semicolon (;). </a:t>
            </a:r>
          </a:p>
          <a:p>
            <a:r>
              <a:rPr lang="en-IN" dirty="0"/>
              <a:t>• Following is the basic structure of a PL/SQL block − </a:t>
            </a:r>
          </a:p>
          <a:p>
            <a:r>
              <a:rPr lang="en-IN" dirty="0"/>
              <a:t> </a:t>
            </a:r>
          </a:p>
          <a:p>
            <a:r>
              <a:rPr lang="en-IN" dirty="0"/>
              <a:t>DECLARE &lt;declarations section&gt; </a:t>
            </a:r>
          </a:p>
          <a:p>
            <a:r>
              <a:rPr lang="en-IN" dirty="0"/>
              <a:t>BEGIN &lt;executable command(s)&gt; </a:t>
            </a:r>
          </a:p>
          <a:p>
            <a:r>
              <a:rPr lang="en-IN" dirty="0"/>
              <a:t>EXCEPTION &lt;exception handling&gt; </a:t>
            </a:r>
          </a:p>
          <a:p>
            <a:r>
              <a:rPr lang="en-IN" dirty="0"/>
              <a:t>END;</a:t>
            </a:r>
          </a:p>
          <a:p>
            <a:endParaRPr lang="en-IN" dirty="0"/>
          </a:p>
        </p:txBody>
      </p:sp>
    </p:spTree>
    <p:extLst>
      <p:ext uri="{BB962C8B-B14F-4D97-AF65-F5344CB8AC3E}">
        <p14:creationId xmlns:p14="http://schemas.microsoft.com/office/powerpoint/2010/main" val="15551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422"/>
            <a:ext cx="10515600" cy="5901541"/>
          </a:xfrm>
        </p:spPr>
        <p:txBody>
          <a:bodyPr/>
          <a:lstStyle/>
          <a:p>
            <a:r>
              <a:rPr lang="en-IN" dirty="0"/>
              <a:t>Pl/SQL Block structure</a:t>
            </a:r>
          </a:p>
          <a:p>
            <a:endParaRPr lang="en-IN" dirty="0"/>
          </a:p>
        </p:txBody>
      </p:sp>
      <p:pic>
        <p:nvPicPr>
          <p:cNvPr id="4" name="Picture 3"/>
          <p:cNvPicPr/>
          <p:nvPr/>
        </p:nvPicPr>
        <p:blipFill>
          <a:blip r:embed="rId2"/>
          <a:stretch>
            <a:fillRect/>
          </a:stretch>
        </p:blipFill>
        <p:spPr>
          <a:xfrm>
            <a:off x="3857625" y="666432"/>
            <a:ext cx="4476750" cy="5525135"/>
          </a:xfrm>
          <a:prstGeom prst="rect">
            <a:avLst/>
          </a:prstGeom>
        </p:spPr>
      </p:pic>
    </p:spTree>
    <p:extLst>
      <p:ext uri="{BB962C8B-B14F-4D97-AF65-F5344CB8AC3E}">
        <p14:creationId xmlns:p14="http://schemas.microsoft.com/office/powerpoint/2010/main" val="1731999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984474182"/>
              </p:ext>
            </p:extLst>
          </p:nvPr>
        </p:nvGraphicFramePr>
        <p:xfrm>
          <a:off x="508000" y="326644"/>
          <a:ext cx="9335911" cy="5813425"/>
        </p:xfrm>
        <a:graphic>
          <a:graphicData uri="http://schemas.openxmlformats.org/drawingml/2006/table">
            <a:tbl>
              <a:tblPr>
                <a:tableStyleId>{5C22544A-7EE6-4342-B048-85BDC9FD1C3A}</a:tableStyleId>
              </a:tblPr>
              <a:tblGrid>
                <a:gridCol w="4083638"/>
                <a:gridCol w="5252273"/>
              </a:tblGrid>
              <a:tr h="1712613">
                <a:tc>
                  <a:txBody>
                    <a:bodyPr/>
                    <a:lstStyle/>
                    <a:p>
                      <a:pPr>
                        <a:lnSpc>
                          <a:spcPct val="107000"/>
                        </a:lnSpc>
                        <a:spcAft>
                          <a:spcPts val="0"/>
                        </a:spcAft>
                      </a:pPr>
                      <a:r>
                        <a:rPr lang="en-IN" sz="3400">
                          <a:effectLst/>
                        </a:rPr>
                        <a:t>Pl/SQL </a:t>
                      </a:r>
                      <a:r>
                        <a:rPr lang="en-IN" sz="3000">
                          <a:effectLst/>
                        </a:rPr>
                        <a:t>Block structure Explanation </a:t>
                      </a:r>
                      <a:r>
                        <a:rPr lang="en-IN" sz="1200">
                          <a:effectLst/>
                        </a:rPr>
                        <a:t>Sections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c>
                  <a:txBody>
                    <a:bodyPr/>
                    <a:lstStyle/>
                    <a:p>
                      <a:pPr>
                        <a:lnSpc>
                          <a:spcPct val="107000"/>
                        </a:lnSpc>
                        <a:spcAft>
                          <a:spcPts val="0"/>
                        </a:spcAft>
                      </a:pPr>
                      <a:r>
                        <a:rPr lang="en-IN" sz="1200">
                          <a:effectLst/>
                        </a:rPr>
                        <a:t>Description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r>
              <a:tr h="1302611">
                <a:tc>
                  <a:txBody>
                    <a:bodyPr/>
                    <a:lstStyle/>
                    <a:p>
                      <a:pPr>
                        <a:lnSpc>
                          <a:spcPct val="107000"/>
                        </a:lnSpc>
                        <a:spcAft>
                          <a:spcPts val="0"/>
                        </a:spcAft>
                      </a:pPr>
                      <a:r>
                        <a:rPr lang="en-IN" sz="1200">
                          <a:effectLst/>
                        </a:rPr>
                        <a:t>Declarations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c>
                  <a:txBody>
                    <a:bodyPr/>
                    <a:lstStyle/>
                    <a:p>
                      <a:pPr>
                        <a:lnSpc>
                          <a:spcPct val="107000"/>
                        </a:lnSpc>
                        <a:spcAft>
                          <a:spcPts val="0"/>
                        </a:spcAft>
                      </a:pPr>
                      <a:r>
                        <a:rPr lang="en-IN" sz="900">
                          <a:effectLst/>
                        </a:rPr>
                        <a:t> </a:t>
                      </a:r>
                      <a:endParaRPr lang="en-IN" sz="800">
                        <a:effectLst/>
                      </a:endParaRPr>
                    </a:p>
                    <a:p>
                      <a:pPr>
                        <a:lnSpc>
                          <a:spcPct val="107000"/>
                        </a:lnSpc>
                        <a:spcAft>
                          <a:spcPts val="0"/>
                        </a:spcAft>
                      </a:pPr>
                      <a:r>
                        <a:rPr lang="en-IN" sz="1200">
                          <a:effectLst/>
                        </a:rPr>
                        <a:t>•This section starts with the keyword DECLARE. </a:t>
                      </a:r>
                      <a:endParaRPr lang="en-IN" sz="800">
                        <a:effectLst/>
                      </a:endParaRPr>
                    </a:p>
                    <a:p>
                      <a:pPr>
                        <a:lnSpc>
                          <a:spcPct val="107000"/>
                        </a:lnSpc>
                        <a:spcAft>
                          <a:spcPts val="0"/>
                        </a:spcAft>
                      </a:pPr>
                      <a:r>
                        <a:rPr lang="en-IN" sz="1200">
                          <a:effectLst/>
                        </a:rPr>
                        <a:t>• It is an optional section and defines all variables, cursors, and other elements to be used in the program. </a:t>
                      </a:r>
                      <a:endParaRPr lang="en-IN" sz="800">
                        <a:effectLst/>
                      </a:endParaRPr>
                    </a:p>
                    <a:p>
                      <a:pPr>
                        <a:lnSpc>
                          <a:spcPct val="107000"/>
                        </a:lnSpc>
                        <a:spcAft>
                          <a:spcPts val="0"/>
                        </a:spcAft>
                      </a:pPr>
                      <a:r>
                        <a:rPr lang="en-IN" sz="1200">
                          <a:effectLst/>
                        </a:rPr>
                        <a:t>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r>
              <a:tr h="1688567">
                <a:tc>
                  <a:txBody>
                    <a:bodyPr/>
                    <a:lstStyle/>
                    <a:p>
                      <a:pPr>
                        <a:lnSpc>
                          <a:spcPct val="107000"/>
                        </a:lnSpc>
                        <a:spcAft>
                          <a:spcPts val="0"/>
                        </a:spcAft>
                      </a:pPr>
                      <a:r>
                        <a:rPr lang="en-IN" sz="1200">
                          <a:effectLst/>
                        </a:rPr>
                        <a:t>Executable Commands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c>
                  <a:txBody>
                    <a:bodyPr/>
                    <a:lstStyle/>
                    <a:p>
                      <a:pPr>
                        <a:lnSpc>
                          <a:spcPct val="107000"/>
                        </a:lnSpc>
                        <a:spcAft>
                          <a:spcPts val="0"/>
                        </a:spcAft>
                      </a:pPr>
                      <a:r>
                        <a:rPr lang="en-IN" sz="900">
                          <a:effectLst/>
                        </a:rPr>
                        <a:t> </a:t>
                      </a:r>
                      <a:endParaRPr lang="en-IN" sz="800">
                        <a:effectLst/>
                      </a:endParaRPr>
                    </a:p>
                    <a:p>
                      <a:pPr>
                        <a:lnSpc>
                          <a:spcPct val="107000"/>
                        </a:lnSpc>
                        <a:spcAft>
                          <a:spcPts val="0"/>
                        </a:spcAft>
                      </a:pPr>
                      <a:r>
                        <a:rPr lang="en-IN" sz="1200">
                          <a:effectLst/>
                        </a:rPr>
                        <a:t>•This section is enclosed between the keywords BEGIN and END and it is a mandatory section. </a:t>
                      </a:r>
                      <a:endParaRPr lang="en-IN" sz="800">
                        <a:effectLst/>
                      </a:endParaRPr>
                    </a:p>
                    <a:p>
                      <a:pPr>
                        <a:lnSpc>
                          <a:spcPct val="107000"/>
                        </a:lnSpc>
                        <a:spcAft>
                          <a:spcPts val="0"/>
                        </a:spcAft>
                      </a:pPr>
                      <a:r>
                        <a:rPr lang="en-IN" sz="1200">
                          <a:effectLst/>
                        </a:rPr>
                        <a:t>•It consists of the executable PL/SQL statements of the program. </a:t>
                      </a:r>
                      <a:endParaRPr lang="en-IN" sz="800">
                        <a:effectLst/>
                      </a:endParaRPr>
                    </a:p>
                    <a:p>
                      <a:pPr>
                        <a:lnSpc>
                          <a:spcPct val="107000"/>
                        </a:lnSpc>
                        <a:spcAft>
                          <a:spcPts val="0"/>
                        </a:spcAft>
                      </a:pPr>
                      <a:r>
                        <a:rPr lang="en-IN" sz="1200">
                          <a:effectLst/>
                        </a:rPr>
                        <a:t>•It should have at least one executable line of code. </a:t>
                      </a:r>
                      <a:endParaRPr lang="en-IN" sz="800">
                        <a:effectLst/>
                      </a:endParaRPr>
                    </a:p>
                    <a:p>
                      <a:pPr>
                        <a:lnSpc>
                          <a:spcPct val="107000"/>
                        </a:lnSpc>
                        <a:spcAft>
                          <a:spcPts val="0"/>
                        </a:spcAft>
                      </a:pPr>
                      <a:r>
                        <a:rPr lang="en-IN" sz="1200">
                          <a:effectLst/>
                        </a:rPr>
                        <a:t>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r>
              <a:tr h="1109634">
                <a:tc>
                  <a:txBody>
                    <a:bodyPr/>
                    <a:lstStyle/>
                    <a:p>
                      <a:pPr>
                        <a:lnSpc>
                          <a:spcPct val="107000"/>
                        </a:lnSpc>
                        <a:spcAft>
                          <a:spcPts val="0"/>
                        </a:spcAft>
                      </a:pPr>
                      <a:r>
                        <a:rPr lang="en-IN" sz="1200">
                          <a:effectLst/>
                        </a:rPr>
                        <a:t>Exception Handling </a:t>
                      </a:r>
                      <a:endParaRPr lang="en-IN" sz="80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c>
                  <a:txBody>
                    <a:bodyPr/>
                    <a:lstStyle/>
                    <a:p>
                      <a:pPr>
                        <a:lnSpc>
                          <a:spcPct val="107000"/>
                        </a:lnSpc>
                        <a:spcAft>
                          <a:spcPts val="0"/>
                        </a:spcAft>
                      </a:pPr>
                      <a:r>
                        <a:rPr lang="en-IN" sz="900" dirty="0">
                          <a:effectLst/>
                        </a:rPr>
                        <a:t> </a:t>
                      </a:r>
                      <a:endParaRPr lang="en-IN" sz="800" dirty="0">
                        <a:effectLst/>
                      </a:endParaRPr>
                    </a:p>
                    <a:p>
                      <a:pPr>
                        <a:lnSpc>
                          <a:spcPct val="107000"/>
                        </a:lnSpc>
                        <a:spcAft>
                          <a:spcPts val="0"/>
                        </a:spcAft>
                      </a:pPr>
                      <a:r>
                        <a:rPr lang="en-IN" sz="1200" dirty="0">
                          <a:effectLst/>
                        </a:rPr>
                        <a:t>•This section starts with the keyword EXCEPTION. </a:t>
                      </a:r>
                      <a:endParaRPr lang="en-IN" sz="800" dirty="0">
                        <a:effectLst/>
                      </a:endParaRPr>
                    </a:p>
                    <a:p>
                      <a:pPr>
                        <a:lnSpc>
                          <a:spcPct val="107000"/>
                        </a:lnSpc>
                        <a:spcAft>
                          <a:spcPts val="0"/>
                        </a:spcAft>
                      </a:pPr>
                      <a:r>
                        <a:rPr lang="en-IN" sz="1200" dirty="0">
                          <a:effectLst/>
                        </a:rPr>
                        <a:t>•This optional section contains exception(s) that handle errors in </a:t>
                      </a:r>
                      <a:endParaRPr lang="en-IN" sz="800" dirty="0">
                        <a:effectLst/>
                      </a:endParaRPr>
                    </a:p>
                    <a:p>
                      <a:pPr>
                        <a:lnSpc>
                          <a:spcPct val="107000"/>
                        </a:lnSpc>
                        <a:spcAft>
                          <a:spcPts val="0"/>
                        </a:spcAft>
                      </a:pPr>
                      <a:r>
                        <a:rPr lang="en-IN" sz="1200" dirty="0">
                          <a:effectLst/>
                        </a:rPr>
                        <a:t> </a:t>
                      </a:r>
                      <a:endParaRPr lang="en-IN"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0722" marR="50722" marT="0" marB="0"/>
                </a:tc>
              </a:tr>
            </a:tbl>
          </a:graphicData>
        </a:graphic>
      </p:graphicFrame>
      <p:sp>
        <p:nvSpPr>
          <p:cNvPr id="5" name="Rectangle 1"/>
          <p:cNvSpPr>
            <a:spLocks noChangeArrowheads="1"/>
          </p:cNvSpPr>
          <p:nvPr/>
        </p:nvSpPr>
        <p:spPr bwMode="auto">
          <a:xfrm>
            <a:off x="-5283587" y="0"/>
            <a:ext cx="174755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34816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3725"/>
            <a:ext cx="10515600" cy="5703238"/>
          </a:xfrm>
        </p:spPr>
        <p:txBody>
          <a:bodyPr/>
          <a:lstStyle/>
          <a:p>
            <a:endParaRPr lang="en-IN" dirty="0"/>
          </a:p>
          <a:p>
            <a:r>
              <a:rPr lang="en-IN" dirty="0"/>
              <a:t>Stored Procedure- Parameters In MySQL, a parameter has one of three modes: </a:t>
            </a:r>
          </a:p>
          <a:p>
            <a:endParaRPr lang="en-IN" dirty="0"/>
          </a:p>
          <a:p>
            <a:r>
              <a:rPr lang="en-IN" dirty="0"/>
              <a:t>IN OUT </a:t>
            </a:r>
          </a:p>
          <a:p>
            <a:r>
              <a:rPr lang="en-IN" dirty="0"/>
              <a:t>INOUT </a:t>
            </a:r>
          </a:p>
        </p:txBody>
      </p:sp>
    </p:spTree>
    <p:extLst>
      <p:ext uri="{BB962C8B-B14F-4D97-AF65-F5344CB8AC3E}">
        <p14:creationId xmlns:p14="http://schemas.microsoft.com/office/powerpoint/2010/main" val="385791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3999" y="220337"/>
            <a:ext cx="9492867" cy="6637663"/>
          </a:xfrm>
        </p:spPr>
        <p:txBody>
          <a:bodyPr/>
          <a:lstStyle/>
          <a:p>
            <a:endParaRPr lang="en-IN" dirty="0"/>
          </a:p>
          <a:p>
            <a:r>
              <a:rPr lang="en-IN" dirty="0"/>
              <a:t>Stored Procedure- Parameters </a:t>
            </a:r>
          </a:p>
          <a:p>
            <a:r>
              <a:rPr lang="en-IN" dirty="0"/>
              <a:t>IN – is the default mode. When you define an IN parameter in a stored procedure, the calling program has to pass an argument to the stored procedure. </a:t>
            </a:r>
          </a:p>
          <a:p>
            <a:r>
              <a:rPr lang="en-IN" dirty="0"/>
              <a:t>OUT – the value of an OUT parameter can be changed inside the stored procedure and its new value is passed back to the calling program </a:t>
            </a:r>
          </a:p>
          <a:p>
            <a:r>
              <a:rPr lang="en-IN" dirty="0"/>
              <a:t>INOUT – an INOUT parameter is the combination of IN and OUT parameters. It means that the calling program may pass the argument, and the stored procedure can modify the INOUT parameter and pass the new value back to the calling program </a:t>
            </a:r>
          </a:p>
        </p:txBody>
      </p:sp>
    </p:spTree>
    <p:extLst>
      <p:ext uri="{BB962C8B-B14F-4D97-AF65-F5344CB8AC3E}">
        <p14:creationId xmlns:p14="http://schemas.microsoft.com/office/powerpoint/2010/main" val="583924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1860"/>
            <a:ext cx="10515600" cy="5615103"/>
          </a:xfrm>
        </p:spPr>
        <p:txBody>
          <a:bodyPr>
            <a:normAutofit fontScale="85000" lnSpcReduction="20000"/>
          </a:bodyPr>
          <a:lstStyle/>
          <a:p>
            <a:endParaRPr lang="en-IN" dirty="0"/>
          </a:p>
          <a:p>
            <a:endParaRPr lang="en-IN" dirty="0"/>
          </a:p>
          <a:p>
            <a:r>
              <a:rPr lang="en-IN" dirty="0"/>
              <a:t>Assignment </a:t>
            </a:r>
          </a:p>
          <a:p>
            <a:r>
              <a:rPr lang="en-IN" dirty="0"/>
              <a:t>•Unnamed PL/SQL code block: Use of Control structure and Exception handling is mandatory. Write a PL/SQL block of code for the following requirements:- </a:t>
            </a:r>
          </a:p>
          <a:p>
            <a:r>
              <a:rPr lang="en-IN" dirty="0"/>
              <a:t>•</a:t>
            </a:r>
            <a:r>
              <a:rPr lang="en-IN" b="1" dirty="0"/>
              <a:t>Schema: </a:t>
            </a:r>
            <a:endParaRPr lang="en-IN" dirty="0"/>
          </a:p>
          <a:p>
            <a:r>
              <a:rPr lang="en-IN" dirty="0"/>
              <a:t>1. Borrower(Roll_no, Name, DateofIssue, NameofBook, Status) </a:t>
            </a:r>
          </a:p>
          <a:p>
            <a:r>
              <a:rPr lang="en-IN" dirty="0"/>
              <a:t>2. Fine(Roll_no,Date,Amt) </a:t>
            </a:r>
          </a:p>
          <a:p>
            <a:r>
              <a:rPr lang="en-IN" dirty="0"/>
              <a:t>•</a:t>
            </a:r>
            <a:r>
              <a:rPr lang="en-IN" b="1" dirty="0"/>
              <a:t>Accept roll_no &amp; name of book from user</a:t>
            </a:r>
            <a:r>
              <a:rPr lang="en-IN" dirty="0"/>
              <a:t>. </a:t>
            </a:r>
          </a:p>
          <a:p>
            <a:r>
              <a:rPr lang="en-IN" dirty="0"/>
              <a:t>•Check the number of days (from date of issue), if days are between 15 to 30 then fine amount will be Rs 5per day. </a:t>
            </a:r>
          </a:p>
          <a:p>
            <a:r>
              <a:rPr lang="en-IN" dirty="0"/>
              <a:t>•If no. of days&gt;30, per day fine will be Rs 50 per day &amp; for days less than 30, Rs. 5 per day. </a:t>
            </a:r>
          </a:p>
          <a:p>
            <a:r>
              <a:rPr lang="en-IN" dirty="0"/>
              <a:t>•After submitting the book, status will change from I to R. </a:t>
            </a:r>
          </a:p>
          <a:p>
            <a:r>
              <a:rPr lang="en-IN" dirty="0"/>
              <a:t>•If </a:t>
            </a:r>
            <a:r>
              <a:rPr lang="en-IN" dirty="0" smtClean="0"/>
              <a:t>condition </a:t>
            </a:r>
            <a:r>
              <a:rPr lang="en-IN" dirty="0"/>
              <a:t>of fine is true, then details will be stored into fine table. </a:t>
            </a:r>
          </a:p>
          <a:p>
            <a:endParaRPr lang="en-IN" dirty="0"/>
          </a:p>
          <a:p>
            <a:endParaRPr lang="en-IN" dirty="0"/>
          </a:p>
        </p:txBody>
      </p:sp>
    </p:spTree>
    <p:extLst>
      <p:ext uri="{BB962C8B-B14F-4D97-AF65-F5344CB8AC3E}">
        <p14:creationId xmlns:p14="http://schemas.microsoft.com/office/powerpoint/2010/main" val="2162573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9827"/>
            <a:ext cx="10515600" cy="5637136"/>
          </a:xfrm>
        </p:spPr>
        <p:txBody>
          <a:bodyPr/>
          <a:lstStyle/>
          <a:p>
            <a:endParaRPr lang="en-IN" dirty="0"/>
          </a:p>
          <a:p>
            <a:r>
              <a:rPr lang="en-IN" dirty="0"/>
              <a:t>Assignment Required Functions- CURDATE() </a:t>
            </a:r>
          </a:p>
          <a:p>
            <a:r>
              <a:rPr lang="en-IN" dirty="0"/>
              <a:t>•The CURDATE() function returns the current date </a:t>
            </a:r>
          </a:p>
          <a:p>
            <a:r>
              <a:rPr lang="en-IN" dirty="0"/>
              <a:t>•. </a:t>
            </a:r>
          </a:p>
          <a:p>
            <a:r>
              <a:rPr lang="en-IN" dirty="0"/>
              <a:t>•</a:t>
            </a:r>
            <a:r>
              <a:rPr lang="en-IN" b="1" dirty="0"/>
              <a:t>Note: </a:t>
            </a:r>
            <a:r>
              <a:rPr lang="en-IN" dirty="0"/>
              <a:t>This function returns the current date as a "YYYY-MM-DD" format </a:t>
            </a:r>
          </a:p>
          <a:p>
            <a:r>
              <a:rPr lang="en-IN" dirty="0"/>
              <a:t>•</a:t>
            </a:r>
            <a:r>
              <a:rPr lang="en-IN" b="1" dirty="0"/>
              <a:t>Example </a:t>
            </a:r>
            <a:endParaRPr lang="en-IN" dirty="0"/>
          </a:p>
          <a:p>
            <a:r>
              <a:rPr lang="en-IN" dirty="0"/>
              <a:t>•Return current date: </a:t>
            </a:r>
          </a:p>
          <a:p>
            <a:r>
              <a:rPr lang="en-IN" dirty="0"/>
              <a:t>•SELECT CURDATE(); </a:t>
            </a:r>
          </a:p>
          <a:p>
            <a:endParaRPr lang="en-IN" dirty="0"/>
          </a:p>
        </p:txBody>
      </p:sp>
    </p:spTree>
    <p:extLst>
      <p:ext uri="{BB962C8B-B14F-4D97-AF65-F5344CB8AC3E}">
        <p14:creationId xmlns:p14="http://schemas.microsoft.com/office/powerpoint/2010/main" val="3422207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7455"/>
            <a:ext cx="10515600" cy="5879508"/>
          </a:xfrm>
        </p:spPr>
        <p:txBody>
          <a:bodyPr/>
          <a:lstStyle/>
          <a:p>
            <a:endParaRPr lang="en-IN" dirty="0"/>
          </a:p>
          <a:p>
            <a:r>
              <a:rPr lang="en-IN" dirty="0"/>
              <a:t>Assignment Required Functions- DATEDIFF() </a:t>
            </a:r>
          </a:p>
          <a:p>
            <a:r>
              <a:rPr lang="en-IN" dirty="0"/>
              <a:t>•The DATEDIFF() function returns the difference in days between two date values. </a:t>
            </a:r>
          </a:p>
          <a:p>
            <a:r>
              <a:rPr lang="en-IN" dirty="0"/>
              <a:t>•</a:t>
            </a:r>
            <a:r>
              <a:rPr lang="en-IN" b="1" dirty="0"/>
              <a:t>Syntax </a:t>
            </a:r>
            <a:endParaRPr lang="en-IN" dirty="0"/>
          </a:p>
          <a:p>
            <a:r>
              <a:rPr lang="en-IN" dirty="0"/>
              <a:t>•DATEDIFF(</a:t>
            </a:r>
            <a:r>
              <a:rPr lang="en-IN" i="1" dirty="0"/>
              <a:t>date1</a:t>
            </a:r>
            <a:r>
              <a:rPr lang="en-IN" dirty="0"/>
              <a:t>, </a:t>
            </a:r>
            <a:r>
              <a:rPr lang="en-IN" i="1" dirty="0"/>
              <a:t>date2</a:t>
            </a:r>
            <a:r>
              <a:rPr lang="en-IN" dirty="0"/>
              <a:t>) </a:t>
            </a:r>
          </a:p>
          <a:p>
            <a:r>
              <a:rPr lang="en-IN" dirty="0"/>
              <a:t>•</a:t>
            </a:r>
            <a:r>
              <a:rPr lang="en-IN" b="1" dirty="0"/>
              <a:t>Example </a:t>
            </a:r>
            <a:endParaRPr lang="en-IN" dirty="0"/>
          </a:p>
          <a:p>
            <a:r>
              <a:rPr lang="en-IN" dirty="0"/>
              <a:t>•Return the difference in days between two date values: </a:t>
            </a:r>
          </a:p>
          <a:p>
            <a:r>
              <a:rPr lang="en-IN" dirty="0"/>
              <a:t>•SELECT DATEDIFF("2017-06-25", "2017-06-15"); </a:t>
            </a:r>
          </a:p>
          <a:p>
            <a:endParaRPr lang="en-IN" dirty="0"/>
          </a:p>
        </p:txBody>
      </p:sp>
    </p:spTree>
    <p:extLst>
      <p:ext uri="{BB962C8B-B14F-4D97-AF65-F5344CB8AC3E}">
        <p14:creationId xmlns:p14="http://schemas.microsoft.com/office/powerpoint/2010/main" val="1010318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472"/>
            <a:ext cx="10515600" cy="5868491"/>
          </a:xfrm>
        </p:spPr>
        <p:txBody>
          <a:bodyPr>
            <a:normAutofit lnSpcReduction="10000"/>
          </a:bodyPr>
          <a:lstStyle/>
          <a:p>
            <a:endParaRPr lang="en-IN" dirty="0"/>
          </a:p>
          <a:p>
            <a:r>
              <a:rPr lang="en-IN" dirty="0"/>
              <a:t>Assignment Tables-before procure run </a:t>
            </a:r>
          </a:p>
          <a:p>
            <a:r>
              <a:rPr lang="en-IN" b="1" dirty="0" smtClean="0"/>
              <a:t>Roll_no </a:t>
            </a:r>
            <a:r>
              <a:rPr lang="en-IN" dirty="0"/>
              <a:t>	</a:t>
            </a:r>
            <a:r>
              <a:rPr lang="en-IN" b="1" dirty="0"/>
              <a:t>Name </a:t>
            </a:r>
            <a:r>
              <a:rPr lang="en-IN" dirty="0"/>
              <a:t>	</a:t>
            </a:r>
            <a:r>
              <a:rPr lang="en-IN" b="1" dirty="0"/>
              <a:t>DateofIssue </a:t>
            </a:r>
            <a:r>
              <a:rPr lang="en-IN" b="1" dirty="0" smtClean="0"/>
              <a:t> </a:t>
            </a:r>
            <a:r>
              <a:rPr lang="en-IN" dirty="0"/>
              <a:t>	</a:t>
            </a:r>
            <a:r>
              <a:rPr lang="en-IN" b="1" dirty="0"/>
              <a:t>NameofBook </a:t>
            </a:r>
            <a:r>
              <a:rPr lang="en-IN" dirty="0"/>
              <a:t>	</a:t>
            </a:r>
            <a:r>
              <a:rPr lang="en-IN" b="1" dirty="0"/>
              <a:t>Status </a:t>
            </a:r>
            <a:r>
              <a:rPr lang="en-IN" dirty="0"/>
              <a:t>	</a:t>
            </a:r>
          </a:p>
          <a:p>
            <a:r>
              <a:rPr lang="en-IN" dirty="0" smtClean="0"/>
              <a:t>  1 </a:t>
            </a:r>
            <a:r>
              <a:rPr lang="en-IN" dirty="0"/>
              <a:t>	</a:t>
            </a:r>
            <a:r>
              <a:rPr lang="en-IN" dirty="0" smtClean="0"/>
              <a:t>          </a:t>
            </a:r>
            <a:r>
              <a:rPr lang="en-IN" dirty="0" err="1" smtClean="0"/>
              <a:t>Amita</a:t>
            </a:r>
            <a:r>
              <a:rPr lang="en-IN" dirty="0" smtClean="0"/>
              <a:t> </a:t>
            </a:r>
            <a:r>
              <a:rPr lang="en-IN" dirty="0"/>
              <a:t>	</a:t>
            </a:r>
            <a:r>
              <a:rPr lang="en-IN" dirty="0" smtClean="0"/>
              <a:t>            2017-06-25  </a:t>
            </a:r>
            <a:r>
              <a:rPr lang="en-IN" dirty="0"/>
              <a:t>	Java </a:t>
            </a:r>
            <a:r>
              <a:rPr lang="en-IN" dirty="0" smtClean="0"/>
              <a:t>                  </a:t>
            </a:r>
            <a:r>
              <a:rPr lang="en-IN" dirty="0"/>
              <a:t>	</a:t>
            </a:r>
            <a:r>
              <a:rPr lang="en-IN" dirty="0" smtClean="0"/>
              <a:t>    I </a:t>
            </a:r>
            <a:r>
              <a:rPr lang="en-IN" dirty="0"/>
              <a:t>	</a:t>
            </a:r>
          </a:p>
          <a:p>
            <a:r>
              <a:rPr lang="en-IN" dirty="0" smtClean="0"/>
              <a:t> 2 </a:t>
            </a:r>
            <a:r>
              <a:rPr lang="en-IN" dirty="0"/>
              <a:t>	</a:t>
            </a:r>
            <a:r>
              <a:rPr lang="en-IN" dirty="0" smtClean="0"/>
              <a:t>        </a:t>
            </a:r>
            <a:r>
              <a:rPr lang="en-IN" dirty="0" err="1" smtClean="0"/>
              <a:t>Sonakshi</a:t>
            </a:r>
            <a:r>
              <a:rPr lang="en-IN" dirty="0" smtClean="0"/>
              <a:t> </a:t>
            </a:r>
            <a:r>
              <a:rPr lang="en-IN" dirty="0"/>
              <a:t>	</a:t>
            </a:r>
            <a:r>
              <a:rPr lang="en-IN" dirty="0" smtClean="0"/>
              <a:t> 2017-07-10   </a:t>
            </a:r>
            <a:r>
              <a:rPr lang="en-IN" dirty="0"/>
              <a:t>	Networking </a:t>
            </a:r>
            <a:r>
              <a:rPr lang="en-IN" dirty="0" smtClean="0"/>
              <a:t>   </a:t>
            </a:r>
            <a:r>
              <a:rPr lang="en-IN" dirty="0"/>
              <a:t>	</a:t>
            </a:r>
            <a:r>
              <a:rPr lang="en-IN" dirty="0" smtClean="0"/>
              <a:t>    I </a:t>
            </a:r>
            <a:r>
              <a:rPr lang="en-IN" dirty="0"/>
              <a:t>	</a:t>
            </a:r>
          </a:p>
          <a:p>
            <a:r>
              <a:rPr lang="en-IN" dirty="0" smtClean="0"/>
              <a:t> 3 </a:t>
            </a:r>
            <a:r>
              <a:rPr lang="en-IN" dirty="0"/>
              <a:t>	</a:t>
            </a:r>
            <a:r>
              <a:rPr lang="en-IN" dirty="0" smtClean="0"/>
              <a:t>          </a:t>
            </a:r>
            <a:r>
              <a:rPr lang="en-IN" dirty="0" err="1" smtClean="0"/>
              <a:t>Nira</a:t>
            </a:r>
            <a:r>
              <a:rPr lang="en-IN" dirty="0" smtClean="0"/>
              <a:t> </a:t>
            </a:r>
            <a:r>
              <a:rPr lang="en-IN" dirty="0"/>
              <a:t>	</a:t>
            </a:r>
            <a:r>
              <a:rPr lang="en-IN" dirty="0" smtClean="0"/>
              <a:t>            2017-05-22   </a:t>
            </a:r>
            <a:r>
              <a:rPr lang="en-IN" dirty="0"/>
              <a:t>	MySQL 	</a:t>
            </a:r>
            <a:r>
              <a:rPr lang="en-IN" dirty="0" smtClean="0"/>
              <a:t>                I </a:t>
            </a:r>
            <a:r>
              <a:rPr lang="en-IN" dirty="0"/>
              <a:t>	</a:t>
            </a:r>
          </a:p>
          <a:p>
            <a:r>
              <a:rPr lang="sv-SE" dirty="0" smtClean="0"/>
              <a:t> 4 </a:t>
            </a:r>
            <a:r>
              <a:rPr lang="sv-SE" dirty="0"/>
              <a:t>	</a:t>
            </a:r>
            <a:r>
              <a:rPr lang="sv-SE" dirty="0" smtClean="0"/>
              <a:t>         Jagdish </a:t>
            </a:r>
            <a:r>
              <a:rPr lang="sv-SE" dirty="0"/>
              <a:t>	2017-06-10 	</a:t>
            </a:r>
            <a:r>
              <a:rPr lang="sv-SE" dirty="0" smtClean="0"/>
              <a:t>            DBMS                   </a:t>
            </a:r>
            <a:r>
              <a:rPr lang="sv-SE" dirty="0"/>
              <a:t>	</a:t>
            </a:r>
            <a:r>
              <a:rPr lang="sv-SE" dirty="0" smtClean="0"/>
              <a:t>    I </a:t>
            </a:r>
            <a:r>
              <a:rPr lang="sv-SE" dirty="0"/>
              <a:t>	</a:t>
            </a:r>
          </a:p>
          <a:p>
            <a:r>
              <a:rPr lang="en-IN" dirty="0" smtClean="0"/>
              <a:t> 5 </a:t>
            </a:r>
            <a:r>
              <a:rPr lang="en-IN" dirty="0"/>
              <a:t>	</a:t>
            </a:r>
            <a:r>
              <a:rPr lang="en-IN" dirty="0" smtClean="0"/>
              <a:t>       </a:t>
            </a:r>
            <a:r>
              <a:rPr lang="en-IN" dirty="0" err="1" smtClean="0"/>
              <a:t>Jayashree</a:t>
            </a:r>
            <a:r>
              <a:rPr lang="en-IN" dirty="0" smtClean="0"/>
              <a:t> </a:t>
            </a:r>
            <a:r>
              <a:rPr lang="en-IN" dirty="0"/>
              <a:t>	2017-07-05 	</a:t>
            </a:r>
            <a:r>
              <a:rPr lang="en-IN" dirty="0" smtClean="0"/>
              <a:t>            MySQL </a:t>
            </a:r>
            <a:r>
              <a:rPr lang="en-IN" dirty="0"/>
              <a:t>	</a:t>
            </a:r>
            <a:r>
              <a:rPr lang="en-IN" dirty="0" smtClean="0"/>
              <a:t>                I </a:t>
            </a:r>
            <a:r>
              <a:rPr lang="en-IN" dirty="0"/>
              <a:t>	</a:t>
            </a:r>
          </a:p>
          <a:p>
            <a:r>
              <a:rPr lang="fi-FI" dirty="0" smtClean="0"/>
              <a:t> 6 </a:t>
            </a:r>
            <a:r>
              <a:rPr lang="fi-FI" dirty="0"/>
              <a:t>	</a:t>
            </a:r>
            <a:r>
              <a:rPr lang="fi-FI" dirty="0" smtClean="0"/>
              <a:t>          Kiran </a:t>
            </a:r>
            <a:r>
              <a:rPr lang="fi-FI" dirty="0"/>
              <a:t>	</a:t>
            </a:r>
            <a:r>
              <a:rPr lang="fi-FI" dirty="0" smtClean="0"/>
              <a:t>           2017-06-30 </a:t>
            </a:r>
            <a:r>
              <a:rPr lang="fi-FI" dirty="0"/>
              <a:t>	</a:t>
            </a:r>
            <a:r>
              <a:rPr lang="fi-FI" dirty="0" smtClean="0"/>
              <a:t>              Java               </a:t>
            </a:r>
            <a:r>
              <a:rPr lang="fi-FI" dirty="0"/>
              <a:t>	</a:t>
            </a:r>
            <a:r>
              <a:rPr lang="fi-FI" dirty="0" smtClean="0"/>
              <a:t>     I </a:t>
            </a:r>
            <a:r>
              <a:rPr lang="fi-FI" dirty="0"/>
              <a:t>	</a:t>
            </a:r>
          </a:p>
          <a:p>
            <a:endParaRPr lang="en-IN" dirty="0"/>
          </a:p>
          <a:p>
            <a:r>
              <a:rPr lang="en-IN" dirty="0"/>
              <a:t>Fine Table </a:t>
            </a:r>
            <a:r>
              <a:rPr lang="en-IN" b="1" dirty="0"/>
              <a:t>Roll_no </a:t>
            </a:r>
            <a:r>
              <a:rPr lang="en-IN" dirty="0"/>
              <a:t>	</a:t>
            </a:r>
            <a:r>
              <a:rPr lang="en-IN" b="1" dirty="0"/>
              <a:t>Date </a:t>
            </a:r>
            <a:r>
              <a:rPr lang="en-IN" dirty="0"/>
              <a:t>	</a:t>
            </a:r>
            <a:r>
              <a:rPr lang="en-IN" b="1" dirty="0"/>
              <a:t>Amt </a:t>
            </a:r>
            <a:r>
              <a:rPr lang="en-IN" dirty="0"/>
              <a:t>	</a:t>
            </a:r>
          </a:p>
          <a:p>
            <a:endParaRPr lang="en-IN" dirty="0"/>
          </a:p>
        </p:txBody>
      </p:sp>
    </p:spTree>
    <p:extLst>
      <p:ext uri="{BB962C8B-B14F-4D97-AF65-F5344CB8AC3E}">
        <p14:creationId xmlns:p14="http://schemas.microsoft.com/office/powerpoint/2010/main" val="1372680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7654"/>
            <a:ext cx="10515600" cy="6369269"/>
          </a:xfrm>
        </p:spPr>
        <p:txBody>
          <a:bodyPr>
            <a:normAutofit fontScale="92500" lnSpcReduction="20000"/>
          </a:bodyPr>
          <a:lstStyle/>
          <a:p>
            <a:pPr marL="0" indent="0">
              <a:buNone/>
            </a:pPr>
            <a:r>
              <a:rPr lang="en-IN" dirty="0"/>
              <a:t>CREATE TABLE Assignment (</a:t>
            </a:r>
          </a:p>
          <a:p>
            <a:pPr marL="0" indent="0">
              <a:buNone/>
            </a:pPr>
            <a:r>
              <a:rPr lang="en-IN" dirty="0"/>
              <a:t>    </a:t>
            </a:r>
            <a:r>
              <a:rPr lang="en-IN" dirty="0" err="1"/>
              <a:t>Roll_no</a:t>
            </a:r>
            <a:r>
              <a:rPr lang="en-IN" dirty="0"/>
              <a:t> INT PRIMARY KEY,</a:t>
            </a:r>
          </a:p>
          <a:p>
            <a:pPr marL="0" indent="0">
              <a:buNone/>
            </a:pPr>
            <a:r>
              <a:rPr lang="en-IN" dirty="0"/>
              <a:t>    Name VARCHAR(50),</a:t>
            </a:r>
          </a:p>
          <a:p>
            <a:pPr marL="0" indent="0">
              <a:buNone/>
            </a:pPr>
            <a:r>
              <a:rPr lang="en-IN" dirty="0"/>
              <a:t>    </a:t>
            </a:r>
            <a:r>
              <a:rPr lang="en-IN" dirty="0" err="1"/>
              <a:t>DateofIssue</a:t>
            </a:r>
            <a:r>
              <a:rPr lang="en-IN" dirty="0"/>
              <a:t> DATE,</a:t>
            </a:r>
          </a:p>
          <a:p>
            <a:pPr marL="0" indent="0">
              <a:buNone/>
            </a:pPr>
            <a:r>
              <a:rPr lang="en-IN" dirty="0"/>
              <a:t>    </a:t>
            </a:r>
            <a:r>
              <a:rPr lang="en-IN" dirty="0" err="1"/>
              <a:t>NameofBook</a:t>
            </a:r>
            <a:r>
              <a:rPr lang="en-IN" dirty="0"/>
              <a:t> VARCHAR(50),</a:t>
            </a:r>
          </a:p>
          <a:p>
            <a:pPr marL="0" indent="0">
              <a:buNone/>
            </a:pPr>
            <a:r>
              <a:rPr lang="en-IN" dirty="0"/>
              <a:t>    Status CHAR(1)</a:t>
            </a:r>
          </a:p>
          <a:p>
            <a:pPr marL="0" indent="0">
              <a:buNone/>
            </a:pPr>
            <a:r>
              <a:rPr lang="en-IN" dirty="0"/>
              <a:t>);</a:t>
            </a:r>
          </a:p>
          <a:p>
            <a:pPr marL="0" indent="0">
              <a:buNone/>
            </a:pPr>
            <a:endParaRPr lang="en-IN" dirty="0"/>
          </a:p>
          <a:p>
            <a:pPr marL="0" indent="0">
              <a:buNone/>
            </a:pPr>
            <a:r>
              <a:rPr lang="en-IN" dirty="0"/>
              <a:t>INSERT INTO Assignment (</a:t>
            </a:r>
            <a:r>
              <a:rPr lang="en-IN" dirty="0" err="1"/>
              <a:t>Roll_no</a:t>
            </a:r>
            <a:r>
              <a:rPr lang="en-IN" dirty="0"/>
              <a:t>, Name, </a:t>
            </a:r>
            <a:r>
              <a:rPr lang="en-IN" dirty="0" err="1"/>
              <a:t>DateofIssue</a:t>
            </a:r>
            <a:r>
              <a:rPr lang="en-IN" dirty="0"/>
              <a:t>, </a:t>
            </a:r>
            <a:r>
              <a:rPr lang="en-IN" dirty="0" err="1"/>
              <a:t>NameofBook</a:t>
            </a:r>
            <a:r>
              <a:rPr lang="en-IN" dirty="0"/>
              <a:t>, Status) VALUES</a:t>
            </a:r>
          </a:p>
          <a:p>
            <a:pPr marL="0" indent="0">
              <a:buNone/>
            </a:pPr>
            <a:r>
              <a:rPr lang="en-IN" dirty="0"/>
              <a:t>(1, '</a:t>
            </a:r>
            <a:r>
              <a:rPr lang="en-IN" dirty="0" err="1"/>
              <a:t>Amita</a:t>
            </a:r>
            <a:r>
              <a:rPr lang="en-IN" dirty="0"/>
              <a:t>', '2017-06-25', 'Java', 'I'),</a:t>
            </a:r>
          </a:p>
          <a:p>
            <a:pPr marL="0" indent="0">
              <a:buNone/>
            </a:pPr>
            <a:r>
              <a:rPr lang="en-IN" dirty="0"/>
              <a:t>(2, '</a:t>
            </a:r>
            <a:r>
              <a:rPr lang="en-IN" dirty="0" err="1"/>
              <a:t>Sonakshi</a:t>
            </a:r>
            <a:r>
              <a:rPr lang="en-IN" dirty="0"/>
              <a:t>', '2017-07-10', 'Networking', 'I'),</a:t>
            </a:r>
          </a:p>
          <a:p>
            <a:pPr marL="0" indent="0">
              <a:buNone/>
            </a:pPr>
            <a:r>
              <a:rPr lang="en-IN" dirty="0"/>
              <a:t>(3, '</a:t>
            </a:r>
            <a:r>
              <a:rPr lang="en-IN" dirty="0" err="1"/>
              <a:t>Nira</a:t>
            </a:r>
            <a:r>
              <a:rPr lang="en-IN" dirty="0"/>
              <a:t>', '2017-05-22', 'MySQL', 'I'),</a:t>
            </a:r>
          </a:p>
          <a:p>
            <a:pPr marL="0" indent="0">
              <a:buNone/>
            </a:pPr>
            <a:r>
              <a:rPr lang="en-IN" dirty="0"/>
              <a:t>(4, '</a:t>
            </a:r>
            <a:r>
              <a:rPr lang="en-IN" dirty="0" err="1"/>
              <a:t>Jagdish</a:t>
            </a:r>
            <a:r>
              <a:rPr lang="en-IN" dirty="0"/>
              <a:t>', '2017-06-10', 'DBMS', 'I'),</a:t>
            </a:r>
          </a:p>
          <a:p>
            <a:pPr marL="0" indent="0">
              <a:buNone/>
            </a:pPr>
            <a:r>
              <a:rPr lang="en-IN" dirty="0"/>
              <a:t>(5, '</a:t>
            </a:r>
            <a:r>
              <a:rPr lang="en-IN" dirty="0" err="1"/>
              <a:t>Jayashree</a:t>
            </a:r>
            <a:r>
              <a:rPr lang="en-IN" dirty="0"/>
              <a:t>', '2017-07-05', 'MySQL', 'I'),</a:t>
            </a:r>
          </a:p>
          <a:p>
            <a:pPr marL="0" indent="0">
              <a:buNone/>
            </a:pPr>
            <a:r>
              <a:rPr lang="en-IN" dirty="0"/>
              <a:t>(6, '</a:t>
            </a:r>
            <a:r>
              <a:rPr lang="en-IN" dirty="0" err="1"/>
              <a:t>Kiran</a:t>
            </a:r>
            <a:r>
              <a:rPr lang="en-IN" dirty="0"/>
              <a:t>', '2017-06-30', 'Java', 'I');</a:t>
            </a:r>
          </a:p>
          <a:p>
            <a:endParaRPr lang="en-IN" dirty="0"/>
          </a:p>
        </p:txBody>
      </p:sp>
    </p:spTree>
    <p:extLst>
      <p:ext uri="{BB962C8B-B14F-4D97-AF65-F5344CB8AC3E}">
        <p14:creationId xmlns:p14="http://schemas.microsoft.com/office/powerpoint/2010/main" val="209606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779"/>
            <a:ext cx="10515600" cy="5893184"/>
          </a:xfrm>
        </p:spPr>
        <p:txBody>
          <a:bodyPr/>
          <a:lstStyle/>
          <a:p>
            <a:pPr marL="0" indent="0">
              <a:buNone/>
            </a:pPr>
            <a:r>
              <a:rPr lang="en-US" dirty="0"/>
              <a:t>CREATE TABLE Fine (</a:t>
            </a:r>
          </a:p>
          <a:p>
            <a:pPr marL="0" indent="0">
              <a:buNone/>
            </a:pPr>
            <a:r>
              <a:rPr lang="en-US" dirty="0"/>
              <a:t>    </a:t>
            </a:r>
            <a:r>
              <a:rPr lang="en-US" dirty="0" err="1"/>
              <a:t>Roll_no</a:t>
            </a:r>
            <a:r>
              <a:rPr lang="en-US" dirty="0"/>
              <a:t> INT,</a:t>
            </a:r>
          </a:p>
          <a:p>
            <a:pPr marL="0" indent="0">
              <a:buNone/>
            </a:pPr>
            <a:r>
              <a:rPr lang="en-US" dirty="0"/>
              <a:t>    Date </a:t>
            </a:r>
            <a:r>
              <a:rPr lang="en-US" dirty="0" err="1"/>
              <a:t>DATE</a:t>
            </a:r>
            <a:r>
              <a:rPr lang="en-US" dirty="0"/>
              <a:t>,</a:t>
            </a:r>
          </a:p>
          <a:p>
            <a:pPr marL="0" indent="0">
              <a:buNone/>
            </a:pPr>
            <a:r>
              <a:rPr lang="en-US" dirty="0"/>
              <a:t>    </a:t>
            </a:r>
            <a:r>
              <a:rPr lang="en-US" dirty="0" err="1"/>
              <a:t>Amt</a:t>
            </a:r>
            <a:r>
              <a:rPr lang="en-US" dirty="0"/>
              <a:t> DECIMAL(6,2),</a:t>
            </a:r>
          </a:p>
          <a:p>
            <a:pPr marL="0" indent="0">
              <a:buNone/>
            </a:pPr>
            <a:r>
              <a:rPr lang="en-US" dirty="0"/>
              <a:t>    FOREIGN KEY (</a:t>
            </a:r>
            <a:r>
              <a:rPr lang="en-US" dirty="0" err="1"/>
              <a:t>Roll_no</a:t>
            </a:r>
            <a:r>
              <a:rPr lang="en-US" dirty="0"/>
              <a:t>) REFERENCES Assignment(</a:t>
            </a:r>
            <a:r>
              <a:rPr lang="en-US" dirty="0" err="1"/>
              <a:t>Roll_no</a:t>
            </a:r>
            <a:r>
              <a:rPr lang="en-US" dirty="0"/>
              <a:t>)</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073539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838200" y="473075"/>
            <a:ext cx="10515600" cy="5703888"/>
          </a:xfrm>
        </p:spPr>
        <p:txBody>
          <a:bodyPr>
            <a:normAutofit fontScale="47500" lnSpcReduction="20000"/>
          </a:bodyPr>
          <a:lstStyle/>
          <a:p>
            <a:endParaRPr lang="en-IN" dirty="0"/>
          </a:p>
          <a:p>
            <a:pPr marL="0" indent="0">
              <a:buNone/>
            </a:pPr>
            <a:r>
              <a:rPr lang="en-IN" sz="4200" b="1" dirty="0"/>
              <a:t>Stored Procedure Example in MySQL To find difference in current date and issue date </a:t>
            </a:r>
          </a:p>
          <a:p>
            <a:pPr marL="0" indent="0">
              <a:buNone/>
            </a:pPr>
            <a:r>
              <a:rPr lang="en-IN" dirty="0" smtClean="0"/>
              <a:t>   delimiter $</a:t>
            </a:r>
          </a:p>
          <a:p>
            <a:pPr marL="0" indent="0">
              <a:buNone/>
            </a:pPr>
            <a:endParaRPr lang="en-IN" dirty="0" smtClean="0"/>
          </a:p>
          <a:p>
            <a:pPr marL="0" indent="0">
              <a:buNone/>
            </a:pPr>
            <a:r>
              <a:rPr lang="en-IN" dirty="0" smtClean="0"/>
              <a:t>Create procedure P1(</a:t>
            </a:r>
          </a:p>
          <a:p>
            <a:pPr marL="0" indent="0">
              <a:buNone/>
            </a:pPr>
            <a:r>
              <a:rPr lang="en-IN" dirty="0" smtClean="0"/>
              <a:t>    In rno1 </a:t>
            </a:r>
            <a:r>
              <a:rPr lang="en-IN" dirty="0" err="1" smtClean="0"/>
              <a:t>int</a:t>
            </a:r>
            <a:r>
              <a:rPr lang="en-IN" dirty="0" smtClean="0"/>
              <a:t>(3),</a:t>
            </a:r>
          </a:p>
          <a:p>
            <a:pPr marL="0" indent="0">
              <a:buNone/>
            </a:pPr>
            <a:r>
              <a:rPr lang="en-IN" dirty="0" smtClean="0"/>
              <a:t>    name1 </a:t>
            </a:r>
            <a:r>
              <a:rPr lang="en-IN" dirty="0" err="1" smtClean="0"/>
              <a:t>varchar</a:t>
            </a:r>
            <a:r>
              <a:rPr lang="en-IN" dirty="0" smtClean="0"/>
              <a:t>(30)</a:t>
            </a:r>
          </a:p>
          <a:p>
            <a:pPr marL="0" indent="0">
              <a:buNone/>
            </a:pPr>
            <a:r>
              <a:rPr lang="en-IN" dirty="0" smtClean="0"/>
              <a:t>)</a:t>
            </a:r>
          </a:p>
          <a:p>
            <a:pPr marL="0" indent="0">
              <a:buNone/>
            </a:pPr>
            <a:r>
              <a:rPr lang="en-IN" dirty="0" smtClean="0"/>
              <a:t>begin</a:t>
            </a:r>
          </a:p>
          <a:p>
            <a:pPr marL="0" indent="0">
              <a:buNone/>
            </a:pPr>
            <a:r>
              <a:rPr lang="en-IN" dirty="0" smtClean="0"/>
              <a:t>    Declare </a:t>
            </a:r>
            <a:r>
              <a:rPr lang="en-IN" dirty="0" err="1" smtClean="0"/>
              <a:t>i_date</a:t>
            </a:r>
            <a:r>
              <a:rPr lang="en-IN" dirty="0" smtClean="0"/>
              <a:t> date;</a:t>
            </a:r>
          </a:p>
          <a:p>
            <a:pPr marL="0" indent="0">
              <a:buNone/>
            </a:pPr>
            <a:r>
              <a:rPr lang="en-IN" dirty="0" smtClean="0"/>
              <a:t>    Declare diff </a:t>
            </a:r>
            <a:r>
              <a:rPr lang="en-IN" dirty="0" err="1" smtClean="0"/>
              <a:t>int</a:t>
            </a:r>
            <a:r>
              <a:rPr lang="en-IN" dirty="0" smtClean="0"/>
              <a:t>;</a:t>
            </a:r>
          </a:p>
          <a:p>
            <a:pPr marL="0" indent="0">
              <a:buNone/>
            </a:pPr>
            <a:endParaRPr lang="en-IN" dirty="0" smtClean="0"/>
          </a:p>
          <a:p>
            <a:pPr marL="0" indent="0">
              <a:buNone/>
            </a:pPr>
            <a:r>
              <a:rPr lang="en-IN" dirty="0" smtClean="0"/>
              <a:t>    select DateofIssue into </a:t>
            </a:r>
            <a:r>
              <a:rPr lang="en-IN" dirty="0" err="1" smtClean="0"/>
              <a:t>i_date</a:t>
            </a:r>
            <a:r>
              <a:rPr lang="en-IN" dirty="0" smtClean="0"/>
              <a:t> </a:t>
            </a:r>
          </a:p>
          <a:p>
            <a:pPr marL="0" indent="0">
              <a:buNone/>
            </a:pPr>
            <a:r>
              <a:rPr lang="en-IN" dirty="0" smtClean="0"/>
              <a:t>    from stud </a:t>
            </a:r>
          </a:p>
          <a:p>
            <a:pPr marL="0" indent="0">
              <a:buNone/>
            </a:pPr>
            <a:r>
              <a:rPr lang="en-IN" dirty="0" smtClean="0"/>
              <a:t>    where </a:t>
            </a:r>
            <a:r>
              <a:rPr lang="en-IN" dirty="0" err="1" smtClean="0"/>
              <a:t>Rno</a:t>
            </a:r>
            <a:r>
              <a:rPr lang="en-IN" dirty="0" smtClean="0"/>
              <a:t> = rno1 and NameofBook = name1;</a:t>
            </a:r>
          </a:p>
          <a:p>
            <a:pPr marL="0" indent="0">
              <a:buNone/>
            </a:pPr>
            <a:endParaRPr lang="en-IN" dirty="0" smtClean="0"/>
          </a:p>
          <a:p>
            <a:pPr marL="0" indent="0">
              <a:buNone/>
            </a:pPr>
            <a:r>
              <a:rPr lang="en-IN" dirty="0" smtClean="0"/>
              <a:t>    SELECT DATEDIFF(CURDATE(), </a:t>
            </a:r>
            <a:r>
              <a:rPr lang="en-IN" dirty="0" err="1" smtClean="0"/>
              <a:t>i_date</a:t>
            </a:r>
            <a:r>
              <a:rPr lang="en-IN" dirty="0" smtClean="0"/>
              <a:t>) into diff;</a:t>
            </a:r>
          </a:p>
          <a:p>
            <a:pPr marL="0" indent="0">
              <a:buNone/>
            </a:pPr>
            <a:r>
              <a:rPr lang="en-IN" dirty="0" smtClean="0"/>
              <a:t>End;</a:t>
            </a:r>
          </a:p>
          <a:p>
            <a:pPr marL="0" indent="0">
              <a:buNone/>
            </a:pPr>
            <a:endParaRPr lang="en-IN" dirty="0" smtClean="0"/>
          </a:p>
          <a:p>
            <a:pPr marL="0" indent="0">
              <a:buNone/>
            </a:pPr>
            <a:r>
              <a:rPr lang="en-IN" dirty="0" smtClean="0"/>
              <a:t>delimiter ;</a:t>
            </a:r>
          </a:p>
          <a:p>
            <a:pPr marL="0" indent="0">
              <a:buNone/>
            </a:pPr>
            <a:endParaRPr lang="en-IN" dirty="0"/>
          </a:p>
          <a:p>
            <a:pPr marL="0" indent="0">
              <a:buNone/>
            </a:pPr>
            <a:endParaRPr lang="en-IN" dirty="0" smtClean="0"/>
          </a:p>
          <a:p>
            <a:pPr marL="0" indent="0">
              <a:buNone/>
            </a:pPr>
            <a:endParaRPr lang="en-IN" dirty="0"/>
          </a:p>
        </p:txBody>
      </p:sp>
    </p:spTree>
    <p:extLst>
      <p:ext uri="{BB962C8B-B14F-4D97-AF65-F5344CB8AC3E}">
        <p14:creationId xmlns:p14="http://schemas.microsoft.com/office/powerpoint/2010/main" val="3008253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7455"/>
            <a:ext cx="10515600" cy="5879508"/>
          </a:xfrm>
        </p:spPr>
        <p:txBody>
          <a:bodyPr>
            <a:normAutofit fontScale="55000" lnSpcReduction="20000"/>
          </a:bodyPr>
          <a:lstStyle/>
          <a:p>
            <a:r>
              <a:rPr lang="en-IN" dirty="0" smtClean="0"/>
              <a:t>Step-by-step Explanation</a:t>
            </a:r>
          </a:p>
          <a:p>
            <a:r>
              <a:rPr lang="en-IN" dirty="0" smtClean="0"/>
              <a:t>1. delimiter $</a:t>
            </a:r>
          </a:p>
          <a:p>
            <a:r>
              <a:rPr lang="en-IN" dirty="0" smtClean="0"/>
              <a:t>Changes the default command delimiter from ; to $</a:t>
            </a:r>
          </a:p>
          <a:p>
            <a:endParaRPr lang="en-IN" dirty="0" smtClean="0"/>
          </a:p>
          <a:p>
            <a:r>
              <a:rPr lang="en-IN" dirty="0" smtClean="0"/>
              <a:t>This is necessary inside stored procedures, where we use ; within the code, so we change the final delimiter to $.</a:t>
            </a:r>
          </a:p>
          <a:p>
            <a:endParaRPr lang="en-IN" dirty="0" smtClean="0"/>
          </a:p>
          <a:p>
            <a:r>
              <a:rPr lang="en-IN" dirty="0" smtClean="0"/>
              <a:t>2. Create procedure P1(...)</a:t>
            </a:r>
          </a:p>
          <a:p>
            <a:r>
              <a:rPr lang="en-IN" dirty="0" smtClean="0"/>
              <a:t>You are creating a procedure named P1</a:t>
            </a:r>
          </a:p>
          <a:p>
            <a:endParaRPr lang="en-IN" dirty="0" smtClean="0"/>
          </a:p>
          <a:p>
            <a:r>
              <a:rPr lang="en-IN" dirty="0" smtClean="0"/>
              <a:t>It takes two input parameters:</a:t>
            </a:r>
          </a:p>
          <a:p>
            <a:endParaRPr lang="en-IN" dirty="0" smtClean="0"/>
          </a:p>
          <a:p>
            <a:r>
              <a:rPr lang="en-IN" dirty="0" smtClean="0"/>
              <a:t>rno1: the roll number (integer)</a:t>
            </a:r>
          </a:p>
          <a:p>
            <a:endParaRPr lang="en-IN" dirty="0" smtClean="0"/>
          </a:p>
          <a:p>
            <a:r>
              <a:rPr lang="en-IN" dirty="0" smtClean="0"/>
              <a:t>name1: name of the book (string)</a:t>
            </a:r>
          </a:p>
          <a:p>
            <a:endParaRPr lang="en-IN" dirty="0" smtClean="0"/>
          </a:p>
          <a:p>
            <a:r>
              <a:rPr lang="en-IN" dirty="0" smtClean="0"/>
              <a:t>3. Declare </a:t>
            </a:r>
            <a:r>
              <a:rPr lang="en-IN" dirty="0" err="1" smtClean="0"/>
              <a:t>i_date</a:t>
            </a:r>
            <a:r>
              <a:rPr lang="en-IN" dirty="0" smtClean="0"/>
              <a:t> date;</a:t>
            </a:r>
          </a:p>
          <a:p>
            <a:r>
              <a:rPr lang="en-IN" dirty="0" smtClean="0"/>
              <a:t>Declares a variable called </a:t>
            </a:r>
            <a:r>
              <a:rPr lang="en-IN" dirty="0" err="1" smtClean="0"/>
              <a:t>i_date</a:t>
            </a:r>
            <a:r>
              <a:rPr lang="en-IN" dirty="0" smtClean="0"/>
              <a:t> of type DATE</a:t>
            </a:r>
          </a:p>
          <a:p>
            <a:endParaRPr lang="en-IN" dirty="0" smtClean="0"/>
          </a:p>
          <a:p>
            <a:r>
              <a:rPr lang="en-IN" dirty="0" smtClean="0"/>
              <a:t>It will be used to store the date when the book was issued</a:t>
            </a:r>
          </a:p>
          <a:p>
            <a:endParaRPr lang="en-IN" dirty="0"/>
          </a:p>
        </p:txBody>
      </p:sp>
    </p:spTree>
    <p:extLst>
      <p:ext uri="{BB962C8B-B14F-4D97-AF65-F5344CB8AC3E}">
        <p14:creationId xmlns:p14="http://schemas.microsoft.com/office/powerpoint/2010/main" val="526618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131763"/>
            <a:ext cx="10515600" cy="6534150"/>
          </a:xfrm>
        </p:spPr>
        <p:txBody>
          <a:bodyPr>
            <a:normAutofit fontScale="62500" lnSpcReduction="20000"/>
          </a:bodyPr>
          <a:lstStyle/>
          <a:p>
            <a:pPr marL="914400" lvl="2" indent="0">
              <a:buNone/>
            </a:pPr>
            <a:r>
              <a:rPr lang="en-IN" sz="2600" dirty="0" smtClean="0"/>
              <a:t>4. Declare diff </a:t>
            </a:r>
            <a:r>
              <a:rPr lang="en-IN" sz="2600" dirty="0" err="1" smtClean="0"/>
              <a:t>int</a:t>
            </a:r>
            <a:r>
              <a:rPr lang="en-IN" sz="2600" dirty="0" smtClean="0"/>
              <a:t>;</a:t>
            </a:r>
          </a:p>
          <a:p>
            <a:pPr marL="0" indent="0">
              <a:buNone/>
            </a:pPr>
            <a:r>
              <a:rPr lang="en-IN" dirty="0" smtClean="0"/>
              <a:t>Declares a variable called diff of type INT</a:t>
            </a:r>
          </a:p>
          <a:p>
            <a:pPr marL="0" indent="0">
              <a:buNone/>
            </a:pPr>
            <a:endParaRPr lang="en-IN" dirty="0" smtClean="0"/>
          </a:p>
          <a:p>
            <a:pPr marL="0" indent="0">
              <a:buNone/>
            </a:pPr>
            <a:r>
              <a:rPr lang="en-IN" dirty="0" smtClean="0"/>
              <a:t>It will store the number of days between issue date and today</a:t>
            </a:r>
          </a:p>
          <a:p>
            <a:pPr marL="0" indent="0">
              <a:buNone/>
            </a:pPr>
            <a:endParaRPr lang="en-IN" dirty="0" smtClean="0"/>
          </a:p>
          <a:p>
            <a:pPr marL="0" indent="0">
              <a:buNone/>
            </a:pPr>
            <a:r>
              <a:rPr lang="en-IN" dirty="0" smtClean="0"/>
              <a:t>5. select DateofIssue into </a:t>
            </a:r>
            <a:r>
              <a:rPr lang="en-IN" dirty="0" err="1" smtClean="0"/>
              <a:t>i_date</a:t>
            </a:r>
            <a:r>
              <a:rPr lang="en-IN" dirty="0" smtClean="0"/>
              <a:t> ...</a:t>
            </a:r>
          </a:p>
          <a:p>
            <a:pPr marL="0" indent="0">
              <a:buNone/>
            </a:pPr>
            <a:r>
              <a:rPr lang="en-IN" dirty="0" smtClean="0"/>
              <a:t>Looks in the stud table and fetches the DateofIssue where:</a:t>
            </a:r>
          </a:p>
          <a:p>
            <a:pPr marL="0" indent="0">
              <a:buNone/>
            </a:pPr>
            <a:endParaRPr lang="en-IN" dirty="0" smtClean="0"/>
          </a:p>
          <a:p>
            <a:pPr marL="0" indent="0">
              <a:buNone/>
            </a:pPr>
            <a:r>
              <a:rPr lang="en-IN" dirty="0" err="1" smtClean="0"/>
              <a:t>Rno</a:t>
            </a:r>
            <a:r>
              <a:rPr lang="en-IN" dirty="0" smtClean="0"/>
              <a:t> = the roll number passed (rno1)</a:t>
            </a:r>
          </a:p>
          <a:p>
            <a:pPr marL="0" indent="0">
              <a:buNone/>
            </a:pPr>
            <a:endParaRPr lang="en-IN" dirty="0" smtClean="0"/>
          </a:p>
          <a:p>
            <a:pPr marL="0" indent="0">
              <a:buNone/>
            </a:pPr>
            <a:r>
              <a:rPr lang="en-IN" dirty="0" smtClean="0"/>
              <a:t>NameofBook = the book name passed (name1)</a:t>
            </a:r>
          </a:p>
          <a:p>
            <a:pPr marL="0" indent="0">
              <a:buNone/>
            </a:pPr>
            <a:endParaRPr lang="en-IN" dirty="0" smtClean="0"/>
          </a:p>
          <a:p>
            <a:pPr marL="0" indent="0">
              <a:buNone/>
            </a:pPr>
            <a:r>
              <a:rPr lang="en-IN" dirty="0" smtClean="0"/>
              <a:t>The result is saved into the variable </a:t>
            </a:r>
            <a:r>
              <a:rPr lang="en-IN" dirty="0" err="1" smtClean="0"/>
              <a:t>i_date</a:t>
            </a:r>
            <a:endParaRPr lang="en-IN" dirty="0" smtClean="0"/>
          </a:p>
          <a:p>
            <a:pPr marL="0" indent="0">
              <a:buNone/>
            </a:pPr>
            <a:endParaRPr lang="en-IN" dirty="0" smtClean="0"/>
          </a:p>
          <a:p>
            <a:pPr marL="0" indent="0">
              <a:buNone/>
            </a:pPr>
            <a:r>
              <a:rPr lang="en-IN" dirty="0" smtClean="0"/>
              <a:t>6. SELECT DATEDIFF(CURDATE(), </a:t>
            </a:r>
            <a:r>
              <a:rPr lang="en-IN" dirty="0" err="1" smtClean="0"/>
              <a:t>i_date</a:t>
            </a:r>
            <a:r>
              <a:rPr lang="en-IN" dirty="0" smtClean="0"/>
              <a:t>) into diff;</a:t>
            </a:r>
          </a:p>
          <a:p>
            <a:pPr marL="0" indent="0">
              <a:buNone/>
            </a:pPr>
            <a:r>
              <a:rPr lang="en-IN" dirty="0" smtClean="0"/>
              <a:t>CURDATE() gives today’s date</a:t>
            </a:r>
          </a:p>
          <a:p>
            <a:pPr marL="0" indent="0">
              <a:buNone/>
            </a:pPr>
            <a:endParaRPr lang="en-IN" dirty="0" smtClean="0"/>
          </a:p>
          <a:p>
            <a:pPr marL="0" indent="0">
              <a:buNone/>
            </a:pPr>
            <a:r>
              <a:rPr lang="en-IN" dirty="0" smtClean="0"/>
              <a:t>DATEDIFF() calculates how many days have passed since the book was issued</a:t>
            </a:r>
          </a:p>
          <a:p>
            <a:pPr marL="0" indent="0">
              <a:buNone/>
            </a:pPr>
            <a:endParaRPr lang="en-IN" dirty="0" smtClean="0"/>
          </a:p>
          <a:p>
            <a:pPr marL="0" indent="0">
              <a:buNone/>
            </a:pPr>
            <a:r>
              <a:rPr lang="en-IN" dirty="0" smtClean="0"/>
              <a:t>The result is stored in diff</a:t>
            </a:r>
          </a:p>
          <a:p>
            <a:endParaRPr lang="en-IN" dirty="0"/>
          </a:p>
        </p:txBody>
      </p:sp>
    </p:spTree>
    <p:extLst>
      <p:ext uri="{BB962C8B-B14F-4D97-AF65-F5344CB8AC3E}">
        <p14:creationId xmlns:p14="http://schemas.microsoft.com/office/powerpoint/2010/main" val="4058746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522" y="187287"/>
            <a:ext cx="11012277" cy="5989676"/>
          </a:xfrm>
        </p:spPr>
        <p:txBody>
          <a:bodyPr>
            <a:normAutofit fontScale="77500" lnSpcReduction="20000"/>
          </a:bodyPr>
          <a:lstStyle/>
          <a:p>
            <a:pPr marL="0" indent="0">
              <a:buNone/>
            </a:pPr>
            <a:r>
              <a:rPr lang="en-US" b="1" dirty="0"/>
              <a:t>Stored Procedure Example in MySQL - To change status from I to R </a:t>
            </a:r>
            <a:endParaRPr lang="en-IN" b="1" dirty="0" smtClean="0"/>
          </a:p>
          <a:p>
            <a:pPr marL="0" indent="0">
              <a:buNone/>
            </a:pPr>
            <a:r>
              <a:rPr lang="en-IN" dirty="0" smtClean="0"/>
              <a:t>delimiter </a:t>
            </a:r>
            <a:r>
              <a:rPr lang="en-IN" dirty="0" smtClean="0"/>
              <a:t>$</a:t>
            </a:r>
          </a:p>
          <a:p>
            <a:pPr marL="0" indent="0">
              <a:buNone/>
            </a:pPr>
            <a:endParaRPr lang="en-IN" dirty="0" smtClean="0"/>
          </a:p>
          <a:p>
            <a:pPr marL="0" indent="0">
              <a:buNone/>
            </a:pPr>
            <a:r>
              <a:rPr lang="en-IN" dirty="0" smtClean="0"/>
              <a:t>Create procedure P2(</a:t>
            </a:r>
          </a:p>
          <a:p>
            <a:pPr marL="0" indent="0">
              <a:buNone/>
            </a:pPr>
            <a:r>
              <a:rPr lang="en-IN" dirty="0" smtClean="0"/>
              <a:t>    In rno1 </a:t>
            </a:r>
            <a:r>
              <a:rPr lang="en-IN" dirty="0" err="1" smtClean="0"/>
              <a:t>int</a:t>
            </a:r>
            <a:r>
              <a:rPr lang="en-IN" dirty="0" smtClean="0"/>
              <a:t>(3),</a:t>
            </a:r>
          </a:p>
          <a:p>
            <a:pPr marL="0" indent="0">
              <a:buNone/>
            </a:pPr>
            <a:r>
              <a:rPr lang="en-IN" dirty="0" smtClean="0"/>
              <a:t>    name1 </a:t>
            </a:r>
            <a:r>
              <a:rPr lang="en-IN" dirty="0" err="1" smtClean="0"/>
              <a:t>varchar</a:t>
            </a:r>
            <a:r>
              <a:rPr lang="en-IN" dirty="0" smtClean="0"/>
              <a:t>(30)</a:t>
            </a:r>
          </a:p>
          <a:p>
            <a:pPr marL="0" indent="0">
              <a:buNone/>
            </a:pPr>
            <a:r>
              <a:rPr lang="en-IN" dirty="0" smtClean="0"/>
              <a:t>)</a:t>
            </a:r>
          </a:p>
          <a:p>
            <a:pPr marL="0" indent="0">
              <a:buNone/>
            </a:pPr>
            <a:r>
              <a:rPr lang="en-IN" dirty="0" smtClean="0"/>
              <a:t>begin</a:t>
            </a:r>
          </a:p>
          <a:p>
            <a:pPr marL="0" indent="0">
              <a:buNone/>
            </a:pPr>
            <a:r>
              <a:rPr lang="en-IN" dirty="0" smtClean="0"/>
              <a:t>    Declare </a:t>
            </a:r>
            <a:r>
              <a:rPr lang="en-IN" dirty="0" err="1" smtClean="0"/>
              <a:t>i_date</a:t>
            </a:r>
            <a:r>
              <a:rPr lang="en-IN" dirty="0" smtClean="0"/>
              <a:t> date;</a:t>
            </a:r>
          </a:p>
          <a:p>
            <a:pPr marL="0" indent="0">
              <a:buNone/>
            </a:pPr>
            <a:r>
              <a:rPr lang="en-IN" dirty="0" smtClean="0"/>
              <a:t>    Declare diff </a:t>
            </a:r>
            <a:r>
              <a:rPr lang="en-IN" dirty="0" err="1" smtClean="0"/>
              <a:t>int</a:t>
            </a:r>
            <a:r>
              <a:rPr lang="en-IN" dirty="0" smtClean="0"/>
              <a:t>;	</a:t>
            </a:r>
            <a:endParaRPr lang="en-IN" dirty="0" smtClean="0"/>
          </a:p>
          <a:p>
            <a:pPr marL="0" indent="0">
              <a:buNone/>
            </a:pPr>
            <a:endParaRPr lang="en-IN" dirty="0" smtClean="0"/>
          </a:p>
          <a:p>
            <a:pPr marL="0" indent="0">
              <a:buNone/>
            </a:pPr>
            <a:r>
              <a:rPr lang="en-IN" dirty="0" smtClean="0"/>
              <a:t>    select DateofIssue into </a:t>
            </a:r>
            <a:r>
              <a:rPr lang="en-IN" dirty="0" err="1" smtClean="0"/>
              <a:t>i_date</a:t>
            </a:r>
            <a:r>
              <a:rPr lang="en-IN" dirty="0" smtClean="0"/>
              <a:t> </a:t>
            </a:r>
          </a:p>
          <a:p>
            <a:pPr marL="0" indent="0">
              <a:buNone/>
            </a:pPr>
            <a:r>
              <a:rPr lang="en-IN" dirty="0" smtClean="0"/>
              <a:t>    from stud </a:t>
            </a:r>
          </a:p>
          <a:p>
            <a:pPr marL="0" indent="0">
              <a:buNone/>
            </a:pPr>
            <a:r>
              <a:rPr lang="en-IN" dirty="0" smtClean="0"/>
              <a:t>    where </a:t>
            </a:r>
            <a:r>
              <a:rPr lang="en-IN" dirty="0" err="1" smtClean="0"/>
              <a:t>Rno</a:t>
            </a:r>
            <a:r>
              <a:rPr lang="en-IN" dirty="0" smtClean="0"/>
              <a:t> = rno1 and NameofBook = name1;</a:t>
            </a:r>
          </a:p>
          <a:p>
            <a:pPr marL="0" indent="0">
              <a:buNone/>
            </a:pPr>
            <a:endParaRPr lang="en-IN" dirty="0" smtClean="0"/>
          </a:p>
          <a:p>
            <a:pPr marL="0" indent="0">
              <a:buNone/>
            </a:pPr>
            <a:r>
              <a:rPr lang="en-IN" dirty="0" smtClean="0"/>
              <a:t>    SELECT DATEDIFF(CURDATE(), </a:t>
            </a:r>
            <a:r>
              <a:rPr lang="en-IN" dirty="0" err="1" smtClean="0"/>
              <a:t>i_date</a:t>
            </a:r>
            <a:r>
              <a:rPr lang="en-IN" dirty="0" smtClean="0"/>
              <a:t>) into diff;</a:t>
            </a:r>
            <a:endParaRPr lang="en-IN" dirty="0"/>
          </a:p>
        </p:txBody>
      </p:sp>
    </p:spTree>
    <p:extLst>
      <p:ext uri="{BB962C8B-B14F-4D97-AF65-F5344CB8AC3E}">
        <p14:creationId xmlns:p14="http://schemas.microsoft.com/office/powerpoint/2010/main" val="59675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7455"/>
            <a:ext cx="10515600" cy="5879508"/>
          </a:xfrm>
        </p:spPr>
        <p:txBody>
          <a:bodyPr>
            <a:normAutofit lnSpcReduction="10000"/>
          </a:bodyPr>
          <a:lstStyle/>
          <a:p>
            <a:pPr marL="0" indent="0">
              <a:buNone/>
            </a:pPr>
            <a:r>
              <a:rPr lang="en-IN" dirty="0" smtClean="0"/>
              <a:t>If diff &gt; 15 then </a:t>
            </a:r>
          </a:p>
          <a:p>
            <a:pPr marL="0" indent="0">
              <a:buNone/>
            </a:pPr>
            <a:r>
              <a:rPr lang="en-IN" dirty="0" smtClean="0"/>
              <a:t>        Update stud</a:t>
            </a:r>
          </a:p>
          <a:p>
            <a:pPr marL="0" indent="0">
              <a:buNone/>
            </a:pPr>
            <a:r>
              <a:rPr lang="en-IN" dirty="0" smtClean="0"/>
              <a:t>        set status = 'R'</a:t>
            </a:r>
          </a:p>
          <a:p>
            <a:pPr marL="0" indent="0">
              <a:buNone/>
            </a:pPr>
            <a:r>
              <a:rPr lang="en-IN" dirty="0" smtClean="0"/>
              <a:t>        where </a:t>
            </a:r>
            <a:r>
              <a:rPr lang="en-IN" dirty="0" err="1" smtClean="0"/>
              <a:t>Rno</a:t>
            </a:r>
            <a:r>
              <a:rPr lang="en-IN" dirty="0" smtClean="0"/>
              <a:t> = rno1 and NameofBook = name1;</a:t>
            </a:r>
          </a:p>
          <a:p>
            <a:pPr marL="0" indent="0">
              <a:buNone/>
            </a:pPr>
            <a:r>
              <a:rPr lang="en-IN" dirty="0" smtClean="0"/>
              <a:t>    End if;</a:t>
            </a:r>
          </a:p>
          <a:p>
            <a:pPr marL="0" indent="0">
              <a:buNone/>
            </a:pPr>
            <a:r>
              <a:rPr lang="en-IN" dirty="0" smtClean="0"/>
              <a:t>End;</a:t>
            </a:r>
          </a:p>
          <a:p>
            <a:pPr marL="0" indent="0">
              <a:buNone/>
            </a:pPr>
            <a:endParaRPr lang="en-IN" dirty="0" smtClean="0"/>
          </a:p>
          <a:p>
            <a:pPr marL="0" indent="0">
              <a:buNone/>
            </a:pPr>
            <a:r>
              <a:rPr lang="en-IN" dirty="0" smtClean="0"/>
              <a:t>$</a:t>
            </a:r>
          </a:p>
          <a:p>
            <a:pPr marL="0" indent="0">
              <a:buNone/>
            </a:pPr>
            <a:endParaRPr lang="en-IN" dirty="0" smtClean="0"/>
          </a:p>
          <a:p>
            <a:pPr marL="0" indent="0">
              <a:buNone/>
            </a:pPr>
            <a:r>
              <a:rPr lang="en-IN" dirty="0" smtClean="0"/>
              <a:t>delimiter ;</a:t>
            </a:r>
          </a:p>
          <a:p>
            <a:pPr marL="0" indent="0">
              <a:buNone/>
            </a:pPr>
            <a:endParaRPr lang="en-IN" dirty="0" smtClean="0"/>
          </a:p>
          <a:p>
            <a:pPr marL="0" indent="0">
              <a:buNone/>
            </a:pPr>
            <a:r>
              <a:rPr lang="en-IN" dirty="0" smtClean="0"/>
              <a:t>call p2(1, 'DBMS');</a:t>
            </a:r>
            <a:endParaRPr lang="en-IN" dirty="0"/>
          </a:p>
        </p:txBody>
      </p:sp>
    </p:spTree>
    <p:extLst>
      <p:ext uri="{BB962C8B-B14F-4D97-AF65-F5344CB8AC3E}">
        <p14:creationId xmlns:p14="http://schemas.microsoft.com/office/powerpoint/2010/main" val="2306542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422"/>
            <a:ext cx="10515600" cy="5901541"/>
          </a:xfrm>
        </p:spPr>
        <p:txBody>
          <a:bodyPr>
            <a:normAutofit fontScale="40000" lnSpcReduction="20000"/>
          </a:bodyPr>
          <a:lstStyle/>
          <a:p>
            <a:pPr marL="0" indent="0">
              <a:buNone/>
            </a:pPr>
            <a:r>
              <a:rPr lang="en-IN" dirty="0" smtClean="0"/>
              <a:t>1. delimiter $</a:t>
            </a:r>
          </a:p>
          <a:p>
            <a:pPr marL="0" indent="0">
              <a:buNone/>
            </a:pPr>
            <a:r>
              <a:rPr lang="en-IN" dirty="0" smtClean="0"/>
              <a:t>Changes the command delimiter from ; to $ so we can write a stored procedure that uses ; inside it.</a:t>
            </a:r>
          </a:p>
          <a:p>
            <a:pPr marL="0" indent="0">
              <a:buNone/>
            </a:pPr>
            <a:endParaRPr lang="en-IN" dirty="0" smtClean="0"/>
          </a:p>
          <a:p>
            <a:pPr marL="0" indent="0">
              <a:buNone/>
            </a:pPr>
            <a:r>
              <a:rPr lang="en-IN" dirty="0" smtClean="0"/>
              <a:t>2. Create procedure P2(...)</a:t>
            </a:r>
          </a:p>
          <a:p>
            <a:pPr marL="0" indent="0">
              <a:buNone/>
            </a:pPr>
            <a:r>
              <a:rPr lang="en-IN" dirty="0" smtClean="0"/>
              <a:t>You're creating a procedure named P2 that takes:</a:t>
            </a:r>
          </a:p>
          <a:p>
            <a:pPr marL="0" indent="0">
              <a:buNone/>
            </a:pPr>
            <a:endParaRPr lang="en-IN" dirty="0" smtClean="0"/>
          </a:p>
          <a:p>
            <a:pPr marL="0" indent="0">
              <a:buNone/>
            </a:pPr>
            <a:r>
              <a:rPr lang="en-IN" dirty="0" smtClean="0"/>
              <a:t>rno1: the student's roll number</a:t>
            </a:r>
          </a:p>
          <a:p>
            <a:pPr marL="0" indent="0">
              <a:buNone/>
            </a:pPr>
            <a:endParaRPr lang="en-IN" dirty="0" smtClean="0"/>
          </a:p>
          <a:p>
            <a:pPr marL="0" indent="0">
              <a:buNone/>
            </a:pPr>
            <a:r>
              <a:rPr lang="en-IN" dirty="0" smtClean="0"/>
              <a:t>name1: the name of the book</a:t>
            </a:r>
          </a:p>
          <a:p>
            <a:pPr marL="0" indent="0">
              <a:buNone/>
            </a:pPr>
            <a:endParaRPr lang="en-IN" dirty="0" smtClean="0"/>
          </a:p>
          <a:p>
            <a:pPr marL="0" indent="0">
              <a:buNone/>
            </a:pPr>
            <a:r>
              <a:rPr lang="en-IN" dirty="0" smtClean="0"/>
              <a:t>3. Declare </a:t>
            </a:r>
            <a:r>
              <a:rPr lang="en-IN" dirty="0" err="1" smtClean="0"/>
              <a:t>i_date</a:t>
            </a:r>
            <a:r>
              <a:rPr lang="en-IN" dirty="0" smtClean="0"/>
              <a:t> date;</a:t>
            </a:r>
          </a:p>
          <a:p>
            <a:pPr marL="0" indent="0">
              <a:buNone/>
            </a:pPr>
            <a:r>
              <a:rPr lang="en-IN" dirty="0" smtClean="0"/>
              <a:t>Creates a local variable to store the book’s issue date.</a:t>
            </a:r>
          </a:p>
          <a:p>
            <a:pPr marL="0" indent="0">
              <a:buNone/>
            </a:pPr>
            <a:endParaRPr lang="en-IN" dirty="0" smtClean="0"/>
          </a:p>
          <a:p>
            <a:pPr marL="0" indent="0">
              <a:buNone/>
            </a:pPr>
            <a:r>
              <a:rPr lang="en-IN" dirty="0" smtClean="0"/>
              <a:t>4. Declare diff </a:t>
            </a:r>
            <a:r>
              <a:rPr lang="en-IN" dirty="0" err="1" smtClean="0"/>
              <a:t>int</a:t>
            </a:r>
            <a:r>
              <a:rPr lang="en-IN" dirty="0" smtClean="0"/>
              <a:t>;</a:t>
            </a:r>
          </a:p>
          <a:p>
            <a:pPr marL="0" indent="0">
              <a:buNone/>
            </a:pPr>
            <a:r>
              <a:rPr lang="en-IN" dirty="0" smtClean="0"/>
              <a:t>Creates a variable to store the difference in days between issue date and today.</a:t>
            </a:r>
          </a:p>
          <a:p>
            <a:pPr marL="0" indent="0">
              <a:buNone/>
            </a:pPr>
            <a:endParaRPr lang="en-IN" dirty="0" smtClean="0"/>
          </a:p>
          <a:p>
            <a:pPr marL="0" indent="0">
              <a:buNone/>
            </a:pPr>
            <a:r>
              <a:rPr lang="en-IN" dirty="0" smtClean="0"/>
              <a:t>5.</a:t>
            </a:r>
          </a:p>
          <a:p>
            <a:pPr marL="0" indent="0">
              <a:buNone/>
            </a:pPr>
            <a:r>
              <a:rPr lang="en-IN" dirty="0" err="1" smtClean="0"/>
              <a:t>sql</a:t>
            </a:r>
            <a:endParaRPr lang="en-IN" dirty="0" smtClean="0"/>
          </a:p>
          <a:p>
            <a:pPr marL="0" indent="0">
              <a:buNone/>
            </a:pPr>
            <a:r>
              <a:rPr lang="en-IN" dirty="0" smtClean="0"/>
              <a:t>Copy</a:t>
            </a:r>
          </a:p>
          <a:p>
            <a:pPr marL="0" indent="0">
              <a:buNone/>
            </a:pPr>
            <a:r>
              <a:rPr lang="en-IN" dirty="0" smtClean="0"/>
              <a:t>Edit</a:t>
            </a:r>
          </a:p>
          <a:p>
            <a:pPr marL="0" indent="0">
              <a:buNone/>
            </a:pPr>
            <a:r>
              <a:rPr lang="en-IN" dirty="0" smtClean="0"/>
              <a:t>select DateofIssue into </a:t>
            </a:r>
            <a:r>
              <a:rPr lang="en-IN" dirty="0" err="1" smtClean="0"/>
              <a:t>i_date</a:t>
            </a:r>
            <a:r>
              <a:rPr lang="en-IN" dirty="0" smtClean="0"/>
              <a:t> </a:t>
            </a:r>
          </a:p>
          <a:p>
            <a:pPr marL="0" indent="0">
              <a:buNone/>
            </a:pPr>
            <a:r>
              <a:rPr lang="en-IN" dirty="0" smtClean="0"/>
              <a:t>from stud </a:t>
            </a:r>
          </a:p>
          <a:p>
            <a:pPr marL="0" indent="0">
              <a:buNone/>
            </a:pPr>
            <a:r>
              <a:rPr lang="en-IN" dirty="0" smtClean="0"/>
              <a:t>where </a:t>
            </a:r>
            <a:r>
              <a:rPr lang="en-IN" dirty="0" err="1" smtClean="0"/>
              <a:t>Rno</a:t>
            </a:r>
            <a:r>
              <a:rPr lang="en-IN" dirty="0" smtClean="0"/>
              <a:t> = rno1 and NameofBook = name1;</a:t>
            </a:r>
          </a:p>
          <a:p>
            <a:pPr marL="0" indent="0">
              <a:buNone/>
            </a:pPr>
            <a:r>
              <a:rPr lang="en-IN" dirty="0" smtClean="0"/>
              <a:t>This line fetches the issue date of the book for the given student and stores it in </a:t>
            </a:r>
            <a:r>
              <a:rPr lang="en-IN" dirty="0" err="1" smtClean="0"/>
              <a:t>i_date</a:t>
            </a:r>
            <a:r>
              <a:rPr lang="en-IN" dirty="0" smtClean="0"/>
              <a:t>.</a:t>
            </a:r>
            <a:endParaRPr lang="en-IN" dirty="0"/>
          </a:p>
        </p:txBody>
      </p:sp>
    </p:spTree>
    <p:extLst>
      <p:ext uri="{BB962C8B-B14F-4D97-AF65-F5344CB8AC3E}">
        <p14:creationId xmlns:p14="http://schemas.microsoft.com/office/powerpoint/2010/main" val="4124996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3557"/>
            <a:ext cx="10515600" cy="5813406"/>
          </a:xfrm>
        </p:spPr>
        <p:txBody>
          <a:bodyPr>
            <a:normAutofit fontScale="25000" lnSpcReduction="20000"/>
          </a:bodyPr>
          <a:lstStyle/>
          <a:p>
            <a:pPr marL="0" indent="0">
              <a:buNone/>
            </a:pPr>
            <a:r>
              <a:rPr lang="en-IN" dirty="0" smtClean="0"/>
              <a:t>6.</a:t>
            </a:r>
          </a:p>
          <a:p>
            <a:pPr marL="0" indent="0">
              <a:buNone/>
            </a:pPr>
            <a:r>
              <a:rPr lang="en-IN" dirty="0" err="1" smtClean="0"/>
              <a:t>sql</a:t>
            </a:r>
            <a:endParaRPr lang="en-IN" dirty="0" smtClean="0"/>
          </a:p>
          <a:p>
            <a:pPr marL="0" indent="0">
              <a:buNone/>
            </a:pPr>
            <a:r>
              <a:rPr lang="en-IN" dirty="0" smtClean="0"/>
              <a:t>Copy</a:t>
            </a:r>
          </a:p>
          <a:p>
            <a:pPr marL="0" indent="0">
              <a:buNone/>
            </a:pPr>
            <a:r>
              <a:rPr lang="en-IN" dirty="0" smtClean="0"/>
              <a:t>Edit</a:t>
            </a:r>
          </a:p>
          <a:p>
            <a:pPr marL="0" indent="0">
              <a:buNone/>
            </a:pPr>
            <a:r>
              <a:rPr lang="en-IN" dirty="0" smtClean="0"/>
              <a:t>SELECT DATEDIFF(CURDATE(), </a:t>
            </a:r>
            <a:r>
              <a:rPr lang="en-IN" dirty="0" err="1" smtClean="0"/>
              <a:t>i_date</a:t>
            </a:r>
            <a:r>
              <a:rPr lang="en-IN" dirty="0" smtClean="0"/>
              <a:t>) into diff;</a:t>
            </a:r>
          </a:p>
          <a:p>
            <a:pPr marL="0" indent="0">
              <a:buNone/>
            </a:pPr>
            <a:r>
              <a:rPr lang="en-IN" dirty="0" smtClean="0"/>
              <a:t>Calculates how many days have passed since the book was issued and stores it in diff.</a:t>
            </a:r>
          </a:p>
          <a:p>
            <a:pPr marL="0" indent="0">
              <a:buNone/>
            </a:pPr>
            <a:endParaRPr lang="en-IN" dirty="0" smtClean="0"/>
          </a:p>
          <a:p>
            <a:pPr marL="0" indent="0">
              <a:buNone/>
            </a:pPr>
            <a:r>
              <a:rPr lang="en-IN" dirty="0" smtClean="0"/>
              <a:t>7.</a:t>
            </a:r>
          </a:p>
          <a:p>
            <a:pPr marL="0" indent="0">
              <a:buNone/>
            </a:pPr>
            <a:r>
              <a:rPr lang="en-IN" dirty="0" err="1" smtClean="0"/>
              <a:t>sql</a:t>
            </a:r>
            <a:endParaRPr lang="en-IN" dirty="0" smtClean="0"/>
          </a:p>
          <a:p>
            <a:pPr marL="0" indent="0">
              <a:buNone/>
            </a:pPr>
            <a:r>
              <a:rPr lang="en-IN" dirty="0" smtClean="0"/>
              <a:t>Copy</a:t>
            </a:r>
          </a:p>
          <a:p>
            <a:pPr marL="0" indent="0">
              <a:buNone/>
            </a:pPr>
            <a:r>
              <a:rPr lang="en-IN" dirty="0" smtClean="0"/>
              <a:t>Edit</a:t>
            </a:r>
          </a:p>
          <a:p>
            <a:pPr marL="0" indent="0">
              <a:buNone/>
            </a:pPr>
            <a:r>
              <a:rPr lang="en-IN" dirty="0" smtClean="0"/>
              <a:t>If diff &gt; 15 then </a:t>
            </a:r>
          </a:p>
          <a:p>
            <a:pPr marL="0" indent="0">
              <a:buNone/>
            </a:pPr>
            <a:r>
              <a:rPr lang="en-IN" dirty="0" smtClean="0"/>
              <a:t>    Update stud</a:t>
            </a:r>
          </a:p>
          <a:p>
            <a:pPr marL="0" indent="0">
              <a:buNone/>
            </a:pPr>
            <a:r>
              <a:rPr lang="en-IN" dirty="0" smtClean="0"/>
              <a:t>    set status = 'R'</a:t>
            </a:r>
          </a:p>
          <a:p>
            <a:pPr marL="0" indent="0">
              <a:buNone/>
            </a:pPr>
            <a:r>
              <a:rPr lang="en-IN" dirty="0" smtClean="0"/>
              <a:t>    where </a:t>
            </a:r>
            <a:r>
              <a:rPr lang="en-IN" dirty="0" err="1" smtClean="0"/>
              <a:t>Rno</a:t>
            </a:r>
            <a:r>
              <a:rPr lang="en-IN" dirty="0" smtClean="0"/>
              <a:t> = rno1 and NameofBook = name1;</a:t>
            </a:r>
          </a:p>
          <a:p>
            <a:pPr marL="0" indent="0">
              <a:buNone/>
            </a:pPr>
            <a:r>
              <a:rPr lang="en-IN" dirty="0" smtClean="0"/>
              <a:t>End if;</a:t>
            </a:r>
          </a:p>
          <a:p>
            <a:pPr marL="0" indent="0">
              <a:buNone/>
            </a:pPr>
            <a:r>
              <a:rPr lang="en-IN" dirty="0" smtClean="0"/>
              <a:t>If the book is more than 15 days overdue, it updates the status of that book to 'R' in the stud table.</a:t>
            </a:r>
          </a:p>
          <a:p>
            <a:pPr marL="0" indent="0">
              <a:buNone/>
            </a:pPr>
            <a:endParaRPr lang="en-IN" dirty="0" smtClean="0"/>
          </a:p>
          <a:p>
            <a:pPr marL="0" indent="0">
              <a:buNone/>
            </a:pPr>
            <a:r>
              <a:rPr lang="en-IN" dirty="0" smtClean="0"/>
              <a:t>'R' might stand for "Return" or "Reminder", depending on your system design.</a:t>
            </a:r>
          </a:p>
          <a:p>
            <a:pPr marL="0" indent="0">
              <a:buNone/>
            </a:pPr>
            <a:endParaRPr lang="en-IN" dirty="0" smtClean="0"/>
          </a:p>
          <a:p>
            <a:pPr marL="0" indent="0">
              <a:buNone/>
            </a:pPr>
            <a:r>
              <a:rPr lang="en-IN" dirty="0" smtClean="0"/>
              <a:t>8. delimiter ;</a:t>
            </a:r>
          </a:p>
          <a:p>
            <a:pPr marL="0" indent="0">
              <a:buNone/>
            </a:pPr>
            <a:r>
              <a:rPr lang="en-IN" dirty="0" smtClean="0"/>
              <a:t>Restores the normal semicolon (;) delimiter.</a:t>
            </a:r>
          </a:p>
          <a:p>
            <a:pPr marL="0" indent="0">
              <a:buNone/>
            </a:pPr>
            <a:endParaRPr lang="en-IN" dirty="0" smtClean="0"/>
          </a:p>
          <a:p>
            <a:pPr marL="0" indent="0">
              <a:buNone/>
            </a:pPr>
            <a:r>
              <a:rPr lang="en-IN" dirty="0" smtClean="0"/>
              <a:t>9. call p2(1, 'DBMS');</a:t>
            </a:r>
          </a:p>
          <a:p>
            <a:pPr marL="0" indent="0">
              <a:buNone/>
            </a:pPr>
            <a:r>
              <a:rPr lang="en-IN" dirty="0" smtClean="0"/>
              <a:t>Calls the procedure with:</a:t>
            </a:r>
          </a:p>
          <a:p>
            <a:pPr marL="0" indent="0">
              <a:buNone/>
            </a:pPr>
            <a:endParaRPr lang="en-IN" dirty="0" smtClean="0"/>
          </a:p>
          <a:p>
            <a:pPr marL="0" indent="0">
              <a:buNone/>
            </a:pPr>
            <a:r>
              <a:rPr lang="en-IN" dirty="0" smtClean="0"/>
              <a:t>Roll number = 1</a:t>
            </a:r>
          </a:p>
          <a:p>
            <a:pPr marL="0" indent="0">
              <a:buNone/>
            </a:pPr>
            <a:endParaRPr lang="en-IN" dirty="0"/>
          </a:p>
        </p:txBody>
      </p:sp>
    </p:spTree>
    <p:extLst>
      <p:ext uri="{BB962C8B-B14F-4D97-AF65-F5344CB8AC3E}">
        <p14:creationId xmlns:p14="http://schemas.microsoft.com/office/powerpoint/2010/main" val="2078322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472"/>
            <a:ext cx="10515600" cy="6323682"/>
          </a:xfrm>
        </p:spPr>
        <p:txBody>
          <a:bodyPr/>
          <a:lstStyle/>
          <a:p>
            <a:pPr marL="0" indent="0">
              <a:buNone/>
            </a:pPr>
            <a:r>
              <a:rPr lang="en-IN" sz="1600" dirty="0" smtClean="0"/>
              <a:t>Stored Procedure: Purpose</a:t>
            </a:r>
          </a:p>
          <a:p>
            <a:pPr marL="0" indent="0">
              <a:buNone/>
            </a:pPr>
            <a:r>
              <a:rPr lang="en-IN" sz="1600" dirty="0" smtClean="0"/>
              <a:t>This procedure:</a:t>
            </a:r>
          </a:p>
          <a:p>
            <a:pPr marL="0" indent="0">
              <a:buNone/>
            </a:pPr>
            <a:endParaRPr lang="en-IN" sz="1600" dirty="0" smtClean="0"/>
          </a:p>
          <a:p>
            <a:pPr marL="0" indent="0">
              <a:buNone/>
            </a:pPr>
            <a:r>
              <a:rPr lang="en-IN" sz="1600" dirty="0" smtClean="0"/>
              <a:t>Checks if a book has been issued 15 to 30 days ago.</a:t>
            </a:r>
          </a:p>
          <a:p>
            <a:pPr marL="0" indent="0">
              <a:buNone/>
            </a:pPr>
            <a:endParaRPr lang="en-IN" sz="1600" dirty="0" smtClean="0"/>
          </a:p>
          <a:p>
            <a:pPr marL="0" indent="0">
              <a:buNone/>
            </a:pPr>
            <a:r>
              <a:rPr lang="en-IN" sz="1600" dirty="0" smtClean="0"/>
              <a:t>If yes:</a:t>
            </a:r>
          </a:p>
          <a:p>
            <a:pPr marL="0" indent="0">
              <a:buNone/>
            </a:pPr>
            <a:endParaRPr lang="en-IN" sz="1600" dirty="0" smtClean="0"/>
          </a:p>
          <a:p>
            <a:pPr marL="0" indent="0">
              <a:buNone/>
            </a:pPr>
            <a:r>
              <a:rPr lang="en-IN" sz="1600" dirty="0" smtClean="0"/>
              <a:t>Calculates fine: ₹5 per day.</a:t>
            </a:r>
          </a:p>
          <a:p>
            <a:pPr marL="0" indent="0">
              <a:buNone/>
            </a:pPr>
            <a:endParaRPr lang="en-IN" sz="1600" dirty="0" smtClean="0"/>
          </a:p>
          <a:p>
            <a:pPr marL="0" indent="0">
              <a:buNone/>
            </a:pPr>
            <a:r>
              <a:rPr lang="en-IN" sz="1600" dirty="0" smtClean="0"/>
              <a:t>Stores the fine info in a fine table.</a:t>
            </a:r>
          </a:p>
          <a:p>
            <a:pPr marL="0" indent="0">
              <a:buNone/>
            </a:pPr>
            <a:endParaRPr lang="en-IN" sz="1600" dirty="0" smtClean="0"/>
          </a:p>
          <a:p>
            <a:pPr marL="0" indent="0">
              <a:buNone/>
            </a:pPr>
            <a:r>
              <a:rPr lang="en-IN" sz="1600" dirty="0" smtClean="0"/>
              <a:t>Updates the student’s status to 'R'.</a:t>
            </a:r>
          </a:p>
          <a:p>
            <a:pPr marL="0" indent="0">
              <a:buNone/>
            </a:pPr>
            <a:endParaRPr lang="en-IN" dirty="0" smtClean="0"/>
          </a:p>
          <a:p>
            <a:pPr marL="0" indent="0">
              <a:buNone/>
            </a:pPr>
            <a:endParaRPr lang="en-IN" dirty="0"/>
          </a:p>
        </p:txBody>
      </p:sp>
    </p:spTree>
    <p:extLst>
      <p:ext uri="{BB962C8B-B14F-4D97-AF65-F5344CB8AC3E}">
        <p14:creationId xmlns:p14="http://schemas.microsoft.com/office/powerpoint/2010/main" val="1894407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187325"/>
            <a:ext cx="10515600" cy="6434138"/>
          </a:xfrm>
        </p:spPr>
        <p:txBody>
          <a:bodyPr>
            <a:normAutofit fontScale="55000" lnSpcReduction="20000"/>
          </a:bodyPr>
          <a:lstStyle/>
          <a:p>
            <a:pPr marL="0" indent="0">
              <a:buNone/>
            </a:pPr>
            <a:r>
              <a:rPr lang="en-IN" sz="1200" dirty="0" smtClean="0"/>
              <a:t>delimiter $</a:t>
            </a:r>
          </a:p>
          <a:p>
            <a:pPr marL="0" indent="0">
              <a:buNone/>
            </a:pPr>
            <a:endParaRPr lang="en-IN" sz="1200" dirty="0" smtClean="0"/>
          </a:p>
          <a:p>
            <a:pPr marL="0" indent="0">
              <a:buNone/>
            </a:pPr>
            <a:r>
              <a:rPr lang="en-IN" sz="1200" dirty="0" smtClean="0"/>
              <a:t>Create procedure P3(</a:t>
            </a:r>
          </a:p>
          <a:p>
            <a:pPr marL="0" indent="0">
              <a:buNone/>
            </a:pPr>
            <a:r>
              <a:rPr lang="en-IN" sz="1200" dirty="0" smtClean="0"/>
              <a:t>    In rno1 </a:t>
            </a:r>
            <a:r>
              <a:rPr lang="en-IN" sz="1200" dirty="0" err="1" smtClean="0"/>
              <a:t>int</a:t>
            </a:r>
            <a:r>
              <a:rPr lang="en-IN" sz="1200" dirty="0" smtClean="0"/>
              <a:t>(3),</a:t>
            </a:r>
          </a:p>
          <a:p>
            <a:pPr marL="0" indent="0">
              <a:buNone/>
            </a:pPr>
            <a:r>
              <a:rPr lang="en-IN" sz="1200" dirty="0" smtClean="0"/>
              <a:t>    name1 </a:t>
            </a:r>
            <a:r>
              <a:rPr lang="en-IN" sz="1200" dirty="0" err="1" smtClean="0"/>
              <a:t>varchar</a:t>
            </a:r>
            <a:r>
              <a:rPr lang="en-IN" sz="1200" dirty="0" smtClean="0"/>
              <a:t>(30)</a:t>
            </a:r>
          </a:p>
          <a:p>
            <a:pPr marL="0" indent="0">
              <a:buNone/>
            </a:pPr>
            <a:r>
              <a:rPr lang="en-IN" sz="1200" dirty="0" smtClean="0"/>
              <a:t>)</a:t>
            </a:r>
          </a:p>
          <a:p>
            <a:pPr marL="0" indent="0">
              <a:buNone/>
            </a:pPr>
            <a:r>
              <a:rPr lang="en-IN" sz="1200" dirty="0" smtClean="0"/>
              <a:t>begin</a:t>
            </a:r>
          </a:p>
          <a:p>
            <a:pPr marL="0" indent="0">
              <a:buNone/>
            </a:pPr>
            <a:r>
              <a:rPr lang="en-IN" sz="1200" dirty="0" smtClean="0"/>
              <a:t>    Declare </a:t>
            </a:r>
            <a:r>
              <a:rPr lang="en-IN" sz="1200" dirty="0" err="1" smtClean="0"/>
              <a:t>i_date</a:t>
            </a:r>
            <a:r>
              <a:rPr lang="en-IN" sz="1200" dirty="0" smtClean="0"/>
              <a:t> date;</a:t>
            </a:r>
          </a:p>
          <a:p>
            <a:pPr marL="0" indent="0">
              <a:buNone/>
            </a:pPr>
            <a:r>
              <a:rPr lang="en-IN" sz="1200" dirty="0" smtClean="0"/>
              <a:t>    Declare diff </a:t>
            </a:r>
            <a:r>
              <a:rPr lang="en-IN" sz="1200" dirty="0" err="1" smtClean="0"/>
              <a:t>int</a:t>
            </a:r>
            <a:r>
              <a:rPr lang="en-IN" sz="1200" dirty="0" smtClean="0"/>
              <a:t>;</a:t>
            </a:r>
          </a:p>
          <a:p>
            <a:pPr marL="0" indent="0">
              <a:buNone/>
            </a:pPr>
            <a:r>
              <a:rPr lang="en-IN" sz="1200" dirty="0" smtClean="0"/>
              <a:t>    Declare </a:t>
            </a:r>
            <a:r>
              <a:rPr lang="en-IN" sz="1200" dirty="0" err="1" smtClean="0"/>
              <a:t>fine_amt</a:t>
            </a:r>
            <a:r>
              <a:rPr lang="en-IN" sz="1200" dirty="0" smtClean="0"/>
              <a:t> </a:t>
            </a:r>
            <a:r>
              <a:rPr lang="en-IN" sz="1200" dirty="0" err="1" smtClean="0"/>
              <a:t>int</a:t>
            </a:r>
            <a:r>
              <a:rPr lang="en-IN" sz="1200" dirty="0" smtClean="0"/>
              <a:t>;</a:t>
            </a:r>
          </a:p>
          <a:p>
            <a:pPr marL="0" indent="0">
              <a:buNone/>
            </a:pPr>
            <a:endParaRPr lang="en-IN" sz="1200" dirty="0" smtClean="0"/>
          </a:p>
          <a:p>
            <a:pPr marL="0" indent="0">
              <a:buNone/>
            </a:pPr>
            <a:r>
              <a:rPr lang="en-IN" sz="1200" dirty="0" smtClean="0"/>
              <a:t>    select </a:t>
            </a:r>
            <a:r>
              <a:rPr lang="en-IN" sz="1200" dirty="0" err="1" smtClean="0"/>
              <a:t>Idate</a:t>
            </a:r>
            <a:r>
              <a:rPr lang="en-IN" sz="1200" dirty="0" smtClean="0"/>
              <a:t> into </a:t>
            </a:r>
            <a:r>
              <a:rPr lang="en-IN" sz="1200" dirty="0" err="1" smtClean="0"/>
              <a:t>i_date</a:t>
            </a:r>
            <a:r>
              <a:rPr lang="en-IN" sz="1200" dirty="0" smtClean="0"/>
              <a:t> </a:t>
            </a:r>
          </a:p>
          <a:p>
            <a:pPr marL="0" indent="0">
              <a:buNone/>
            </a:pPr>
            <a:r>
              <a:rPr lang="en-IN" sz="1200" dirty="0" smtClean="0"/>
              <a:t>    from stud </a:t>
            </a:r>
          </a:p>
          <a:p>
            <a:pPr marL="0" indent="0">
              <a:buNone/>
            </a:pPr>
            <a:r>
              <a:rPr lang="en-IN" sz="1200" dirty="0" smtClean="0"/>
              <a:t>    where </a:t>
            </a:r>
            <a:r>
              <a:rPr lang="en-IN" sz="1200" dirty="0" err="1" smtClean="0"/>
              <a:t>rno</a:t>
            </a:r>
            <a:r>
              <a:rPr lang="en-IN" sz="1200" dirty="0" smtClean="0"/>
              <a:t> = rno1 and name = name1;</a:t>
            </a:r>
          </a:p>
          <a:p>
            <a:pPr marL="0" indent="0">
              <a:buNone/>
            </a:pPr>
            <a:endParaRPr lang="en-IN" sz="1200" dirty="0" smtClean="0"/>
          </a:p>
          <a:p>
            <a:pPr marL="0" indent="0">
              <a:buNone/>
            </a:pPr>
            <a:r>
              <a:rPr lang="en-IN" sz="1200" dirty="0" smtClean="0"/>
              <a:t>    SELECT DATEDIFF(CURDATE(), </a:t>
            </a:r>
            <a:r>
              <a:rPr lang="en-IN" sz="1200" dirty="0" err="1" smtClean="0"/>
              <a:t>i_date</a:t>
            </a:r>
            <a:r>
              <a:rPr lang="en-IN" sz="1200" dirty="0" smtClean="0"/>
              <a:t>) into diff;</a:t>
            </a:r>
          </a:p>
          <a:p>
            <a:pPr marL="0" indent="0">
              <a:buNone/>
            </a:pPr>
            <a:endParaRPr lang="en-IN" sz="1200" dirty="0" smtClean="0"/>
          </a:p>
          <a:p>
            <a:pPr marL="0" indent="0">
              <a:buNone/>
            </a:pPr>
            <a:r>
              <a:rPr lang="en-IN" sz="1200" dirty="0" smtClean="0"/>
              <a:t>    If (diff &gt;= 15 and diff &lt;= 30) then</a:t>
            </a:r>
          </a:p>
          <a:p>
            <a:pPr marL="0" indent="0">
              <a:buNone/>
            </a:pPr>
            <a:r>
              <a:rPr lang="en-IN" sz="1200" dirty="0" smtClean="0"/>
              <a:t>        SET </a:t>
            </a:r>
            <a:r>
              <a:rPr lang="en-IN" sz="1200" dirty="0" err="1" smtClean="0"/>
              <a:t>fine_amt</a:t>
            </a:r>
            <a:r>
              <a:rPr lang="en-IN" sz="1200" dirty="0" smtClean="0"/>
              <a:t> = diff * 5;</a:t>
            </a:r>
          </a:p>
          <a:p>
            <a:pPr marL="0" indent="0">
              <a:buNone/>
            </a:pPr>
            <a:endParaRPr lang="en-IN" sz="1200" dirty="0" smtClean="0"/>
          </a:p>
          <a:p>
            <a:pPr marL="0" indent="0">
              <a:buNone/>
            </a:pPr>
            <a:r>
              <a:rPr lang="en-IN" sz="1200" dirty="0" smtClean="0"/>
              <a:t>        insert into fine values(rno1, CURDATE(), </a:t>
            </a:r>
            <a:r>
              <a:rPr lang="en-IN" sz="1200" dirty="0" err="1" smtClean="0"/>
              <a:t>fine_amt</a:t>
            </a:r>
            <a:r>
              <a:rPr lang="en-IN" sz="1200" dirty="0" smtClean="0"/>
              <a:t>);</a:t>
            </a:r>
          </a:p>
          <a:p>
            <a:pPr marL="0" indent="0">
              <a:buNone/>
            </a:pPr>
            <a:endParaRPr lang="en-IN" sz="1200" dirty="0" smtClean="0"/>
          </a:p>
          <a:p>
            <a:pPr marL="0" indent="0">
              <a:buNone/>
            </a:pPr>
            <a:r>
              <a:rPr lang="en-IN" sz="1200" dirty="0" smtClean="0"/>
              <a:t>        Update stud </a:t>
            </a:r>
          </a:p>
          <a:p>
            <a:pPr marL="0" indent="0">
              <a:buNone/>
            </a:pPr>
            <a:r>
              <a:rPr lang="en-IN" sz="1200" dirty="0" smtClean="0"/>
              <a:t>        set status = 'R' </a:t>
            </a:r>
          </a:p>
          <a:p>
            <a:pPr marL="0" indent="0">
              <a:buNone/>
            </a:pPr>
            <a:r>
              <a:rPr lang="en-IN" sz="1200" dirty="0" smtClean="0"/>
              <a:t>        where </a:t>
            </a:r>
            <a:r>
              <a:rPr lang="en-IN" sz="1200" dirty="0" err="1" smtClean="0"/>
              <a:t>rno</a:t>
            </a:r>
            <a:r>
              <a:rPr lang="en-IN" sz="1200" dirty="0" smtClean="0"/>
              <a:t> = rno1 and name = name1;</a:t>
            </a:r>
          </a:p>
          <a:p>
            <a:pPr marL="0" indent="0">
              <a:buNone/>
            </a:pPr>
            <a:r>
              <a:rPr lang="en-IN" sz="1200" dirty="0" smtClean="0"/>
              <a:t>    End if;</a:t>
            </a:r>
          </a:p>
          <a:p>
            <a:pPr marL="0" indent="0">
              <a:buNone/>
            </a:pPr>
            <a:r>
              <a:rPr lang="en-IN" sz="1200" dirty="0" smtClean="0"/>
              <a:t>end</a:t>
            </a:r>
          </a:p>
          <a:p>
            <a:pPr marL="0" indent="0">
              <a:buNone/>
            </a:pPr>
            <a:r>
              <a:rPr lang="en-IN" sz="1200" dirty="0" smtClean="0"/>
              <a:t>$</a:t>
            </a:r>
          </a:p>
          <a:p>
            <a:pPr marL="0" indent="0">
              <a:buNone/>
            </a:pPr>
            <a:endParaRPr lang="en-IN" sz="1200" dirty="0" smtClean="0"/>
          </a:p>
          <a:p>
            <a:pPr marL="0" indent="0">
              <a:buNone/>
            </a:pPr>
            <a:r>
              <a:rPr lang="en-IN" sz="1200" dirty="0" smtClean="0"/>
              <a:t>delimiter ;</a:t>
            </a:r>
          </a:p>
          <a:p>
            <a:pPr marL="0" indent="0">
              <a:buNone/>
            </a:pPr>
            <a:endParaRPr lang="en-IN" sz="1200" dirty="0" smtClean="0"/>
          </a:p>
          <a:p>
            <a:pPr marL="0" indent="0">
              <a:buNone/>
            </a:pPr>
            <a:r>
              <a:rPr lang="en-IN" sz="1200" dirty="0" smtClean="0"/>
              <a:t>call p3(1, 'DBMS');</a:t>
            </a:r>
          </a:p>
          <a:p>
            <a:pPr marL="0" indent="0">
              <a:buNone/>
            </a:pPr>
            <a:endParaRPr lang="en-IN" sz="1200" dirty="0"/>
          </a:p>
        </p:txBody>
      </p:sp>
    </p:spTree>
    <p:extLst>
      <p:ext uri="{BB962C8B-B14F-4D97-AF65-F5344CB8AC3E}">
        <p14:creationId xmlns:p14="http://schemas.microsoft.com/office/powerpoint/2010/main" val="638327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296863"/>
            <a:ext cx="10515600" cy="6324600"/>
          </a:xfrm>
        </p:spPr>
        <p:txBody>
          <a:bodyPr>
            <a:normAutofit fontScale="40000" lnSpcReduction="20000"/>
          </a:bodyPr>
          <a:lstStyle/>
          <a:p>
            <a:pPr marL="0" indent="0">
              <a:buNone/>
            </a:pPr>
            <a:r>
              <a:rPr lang="en-IN" sz="1200" dirty="0" smtClean="0"/>
              <a:t>delimiter $</a:t>
            </a:r>
          </a:p>
          <a:p>
            <a:pPr marL="0" indent="0">
              <a:buNone/>
            </a:pPr>
            <a:endParaRPr lang="en-IN" sz="1200" dirty="0" smtClean="0"/>
          </a:p>
          <a:p>
            <a:pPr marL="0" indent="0">
              <a:buNone/>
            </a:pPr>
            <a:r>
              <a:rPr lang="en-IN" sz="1200" dirty="0" smtClean="0"/>
              <a:t>Create procedure P3(</a:t>
            </a:r>
          </a:p>
          <a:p>
            <a:pPr marL="0" indent="0">
              <a:buNone/>
            </a:pPr>
            <a:r>
              <a:rPr lang="en-IN" sz="1200" dirty="0" smtClean="0"/>
              <a:t>    In rno1 </a:t>
            </a:r>
            <a:r>
              <a:rPr lang="en-IN" sz="1200" dirty="0" err="1" smtClean="0"/>
              <a:t>int</a:t>
            </a:r>
            <a:r>
              <a:rPr lang="en-IN" sz="1200" dirty="0" smtClean="0"/>
              <a:t>(3),</a:t>
            </a:r>
          </a:p>
          <a:p>
            <a:pPr marL="0" indent="0">
              <a:buNone/>
            </a:pPr>
            <a:r>
              <a:rPr lang="en-IN" sz="1200" dirty="0" smtClean="0"/>
              <a:t>    name1 </a:t>
            </a:r>
            <a:r>
              <a:rPr lang="en-IN" sz="1200" dirty="0" err="1" smtClean="0"/>
              <a:t>varchar</a:t>
            </a:r>
            <a:r>
              <a:rPr lang="en-IN" sz="1200" dirty="0" smtClean="0"/>
              <a:t>(30)</a:t>
            </a:r>
          </a:p>
          <a:p>
            <a:pPr marL="0" indent="0">
              <a:buNone/>
            </a:pPr>
            <a:r>
              <a:rPr lang="en-IN" sz="1200" dirty="0" smtClean="0"/>
              <a:t>)</a:t>
            </a:r>
          </a:p>
          <a:p>
            <a:pPr marL="0" indent="0">
              <a:buNone/>
            </a:pPr>
            <a:r>
              <a:rPr lang="en-IN" sz="1200" dirty="0" smtClean="0"/>
              <a:t>begin</a:t>
            </a:r>
          </a:p>
          <a:p>
            <a:pPr marL="0" indent="0">
              <a:buNone/>
            </a:pPr>
            <a:r>
              <a:rPr lang="en-IN" sz="1200" dirty="0" smtClean="0"/>
              <a:t>    Declare </a:t>
            </a:r>
            <a:r>
              <a:rPr lang="en-IN" sz="1200" dirty="0" err="1" smtClean="0"/>
              <a:t>i_date</a:t>
            </a:r>
            <a:r>
              <a:rPr lang="en-IN" sz="1200" dirty="0" smtClean="0"/>
              <a:t> date;</a:t>
            </a:r>
          </a:p>
          <a:p>
            <a:pPr marL="0" indent="0">
              <a:buNone/>
            </a:pPr>
            <a:r>
              <a:rPr lang="en-IN" sz="1200" dirty="0" smtClean="0"/>
              <a:t>    Declare diff </a:t>
            </a:r>
            <a:r>
              <a:rPr lang="en-IN" sz="1200" dirty="0" err="1" smtClean="0"/>
              <a:t>int</a:t>
            </a:r>
            <a:r>
              <a:rPr lang="en-IN" sz="1200" dirty="0" smtClean="0"/>
              <a:t>;</a:t>
            </a:r>
          </a:p>
          <a:p>
            <a:pPr marL="0" indent="0">
              <a:buNone/>
            </a:pPr>
            <a:r>
              <a:rPr lang="en-IN" sz="1200" dirty="0" smtClean="0"/>
              <a:t>    Declare </a:t>
            </a:r>
            <a:r>
              <a:rPr lang="en-IN" sz="1200" dirty="0" err="1" smtClean="0"/>
              <a:t>fine_amt</a:t>
            </a:r>
            <a:r>
              <a:rPr lang="en-IN" sz="1200" dirty="0" smtClean="0"/>
              <a:t> </a:t>
            </a:r>
            <a:r>
              <a:rPr lang="en-IN" sz="1200" dirty="0" err="1" smtClean="0"/>
              <a:t>int</a:t>
            </a:r>
            <a:r>
              <a:rPr lang="en-IN" sz="1200" dirty="0" smtClean="0"/>
              <a:t>;</a:t>
            </a:r>
          </a:p>
          <a:p>
            <a:pPr marL="0" indent="0">
              <a:buNone/>
            </a:pPr>
            <a:endParaRPr lang="en-IN" sz="1200" dirty="0" smtClean="0"/>
          </a:p>
          <a:p>
            <a:pPr marL="0" indent="0">
              <a:buNone/>
            </a:pPr>
            <a:r>
              <a:rPr lang="en-IN" sz="1200" dirty="0" smtClean="0"/>
              <a:t>    select </a:t>
            </a:r>
            <a:r>
              <a:rPr lang="en-IN" sz="1200" dirty="0" err="1" smtClean="0"/>
              <a:t>Idate</a:t>
            </a:r>
            <a:r>
              <a:rPr lang="en-IN" sz="1200" dirty="0" smtClean="0"/>
              <a:t> into </a:t>
            </a:r>
            <a:r>
              <a:rPr lang="en-IN" sz="1200" dirty="0" err="1" smtClean="0"/>
              <a:t>i_date</a:t>
            </a:r>
            <a:r>
              <a:rPr lang="en-IN" sz="1200" dirty="0" smtClean="0"/>
              <a:t> </a:t>
            </a:r>
          </a:p>
          <a:p>
            <a:pPr marL="0" indent="0">
              <a:buNone/>
            </a:pPr>
            <a:r>
              <a:rPr lang="en-IN" sz="1200" dirty="0" smtClean="0"/>
              <a:t>    from stud </a:t>
            </a:r>
          </a:p>
          <a:p>
            <a:pPr marL="0" indent="0">
              <a:buNone/>
            </a:pPr>
            <a:r>
              <a:rPr lang="en-IN" sz="1200" dirty="0" smtClean="0"/>
              <a:t>    where </a:t>
            </a:r>
            <a:r>
              <a:rPr lang="en-IN" sz="1200" dirty="0" err="1" smtClean="0"/>
              <a:t>rno</a:t>
            </a:r>
            <a:r>
              <a:rPr lang="en-IN" sz="1200" dirty="0" smtClean="0"/>
              <a:t> = rno1 and name = name1;</a:t>
            </a:r>
          </a:p>
          <a:p>
            <a:pPr marL="0" indent="0">
              <a:buNone/>
            </a:pPr>
            <a:endParaRPr lang="en-IN" sz="1200" dirty="0" smtClean="0"/>
          </a:p>
          <a:p>
            <a:pPr marL="0" indent="0">
              <a:buNone/>
            </a:pPr>
            <a:r>
              <a:rPr lang="en-IN" sz="1200" dirty="0" smtClean="0"/>
              <a:t>    SELECT DATEDIFF(CURDATE(), </a:t>
            </a:r>
            <a:r>
              <a:rPr lang="en-IN" sz="1200" dirty="0" err="1" smtClean="0"/>
              <a:t>i_date</a:t>
            </a:r>
            <a:r>
              <a:rPr lang="en-IN" sz="1200" dirty="0" smtClean="0"/>
              <a:t>) into diff;</a:t>
            </a:r>
          </a:p>
          <a:p>
            <a:pPr marL="0" indent="0">
              <a:buNone/>
            </a:pPr>
            <a:endParaRPr lang="en-IN" sz="1200" dirty="0" smtClean="0"/>
          </a:p>
          <a:p>
            <a:pPr marL="0" indent="0">
              <a:buNone/>
            </a:pPr>
            <a:r>
              <a:rPr lang="en-IN" sz="1200" dirty="0" smtClean="0"/>
              <a:t>    If (diff &gt;= 15 and diff &lt;= 30) then</a:t>
            </a:r>
          </a:p>
          <a:p>
            <a:pPr marL="0" indent="0">
              <a:buNone/>
            </a:pPr>
            <a:r>
              <a:rPr lang="en-IN" sz="1200" dirty="0" smtClean="0"/>
              <a:t>        SET </a:t>
            </a:r>
            <a:r>
              <a:rPr lang="en-IN" sz="1200" dirty="0" err="1" smtClean="0"/>
              <a:t>fine_amt</a:t>
            </a:r>
            <a:r>
              <a:rPr lang="en-IN" sz="1200" dirty="0" smtClean="0"/>
              <a:t> = diff * 5;</a:t>
            </a:r>
          </a:p>
          <a:p>
            <a:pPr marL="0" indent="0">
              <a:buNone/>
            </a:pPr>
            <a:r>
              <a:rPr lang="en-IN" sz="1200" dirty="0" smtClean="0"/>
              <a:t>        insert into fine values(rno1, CURDATE(), </a:t>
            </a:r>
            <a:r>
              <a:rPr lang="en-IN" sz="1200" dirty="0" err="1" smtClean="0"/>
              <a:t>fine_amt</a:t>
            </a:r>
            <a:r>
              <a:rPr lang="en-IN" sz="1200" dirty="0" smtClean="0"/>
              <a:t>);</a:t>
            </a:r>
          </a:p>
          <a:p>
            <a:pPr marL="0" indent="0">
              <a:buNone/>
            </a:pPr>
            <a:endParaRPr lang="en-IN" sz="1200" dirty="0" smtClean="0"/>
          </a:p>
          <a:p>
            <a:pPr marL="0" indent="0">
              <a:buNone/>
            </a:pPr>
            <a:r>
              <a:rPr lang="en-IN" sz="1200" dirty="0" smtClean="0"/>
              <a:t>    </a:t>
            </a:r>
            <a:r>
              <a:rPr lang="en-IN" sz="1200" dirty="0" err="1" smtClean="0"/>
              <a:t>elseif</a:t>
            </a:r>
            <a:r>
              <a:rPr lang="en-IN" sz="1200" dirty="0" smtClean="0"/>
              <a:t> (diff &gt; 30) then</a:t>
            </a:r>
          </a:p>
          <a:p>
            <a:pPr marL="0" indent="0">
              <a:buNone/>
            </a:pPr>
            <a:r>
              <a:rPr lang="en-IN" sz="1200" dirty="0" smtClean="0"/>
              <a:t>        SET </a:t>
            </a:r>
            <a:r>
              <a:rPr lang="en-IN" sz="1200" dirty="0" err="1" smtClean="0"/>
              <a:t>fine_amt</a:t>
            </a:r>
            <a:r>
              <a:rPr lang="en-IN" sz="1200" dirty="0" smtClean="0"/>
              <a:t> = diff * 50;</a:t>
            </a:r>
          </a:p>
          <a:p>
            <a:pPr marL="0" indent="0">
              <a:buNone/>
            </a:pPr>
            <a:r>
              <a:rPr lang="en-IN" sz="1200" dirty="0" smtClean="0"/>
              <a:t>        insert into fine values(rno1, CURDATE(), </a:t>
            </a:r>
            <a:r>
              <a:rPr lang="en-IN" sz="1200" dirty="0" err="1" smtClean="0"/>
              <a:t>fine_amt</a:t>
            </a:r>
            <a:r>
              <a:rPr lang="en-IN" sz="1200" dirty="0" smtClean="0"/>
              <a:t>);</a:t>
            </a:r>
          </a:p>
          <a:p>
            <a:pPr marL="0" indent="0">
              <a:buNone/>
            </a:pPr>
            <a:endParaRPr lang="en-IN" sz="1200" dirty="0" smtClean="0"/>
          </a:p>
          <a:p>
            <a:pPr marL="0" indent="0">
              <a:buNone/>
            </a:pPr>
            <a:r>
              <a:rPr lang="en-IN" sz="1200" dirty="0" smtClean="0"/>
              <a:t>    End if;</a:t>
            </a:r>
          </a:p>
          <a:p>
            <a:pPr marL="0" indent="0">
              <a:buNone/>
            </a:pPr>
            <a:endParaRPr lang="en-IN" sz="1200" dirty="0" smtClean="0"/>
          </a:p>
          <a:p>
            <a:pPr marL="0" indent="0">
              <a:buNone/>
            </a:pPr>
            <a:r>
              <a:rPr lang="en-IN" sz="1200" dirty="0" smtClean="0"/>
              <a:t>    Update stud </a:t>
            </a:r>
          </a:p>
          <a:p>
            <a:pPr marL="0" indent="0">
              <a:buNone/>
            </a:pPr>
            <a:r>
              <a:rPr lang="en-IN" sz="1200" dirty="0" smtClean="0"/>
              <a:t>    set status = 'R' </a:t>
            </a:r>
          </a:p>
          <a:p>
            <a:pPr marL="0" indent="0">
              <a:buNone/>
            </a:pPr>
            <a:r>
              <a:rPr lang="en-IN" sz="1200" dirty="0" smtClean="0"/>
              <a:t>    where </a:t>
            </a:r>
            <a:r>
              <a:rPr lang="en-IN" sz="1200" dirty="0" err="1" smtClean="0"/>
              <a:t>rno</a:t>
            </a:r>
            <a:r>
              <a:rPr lang="en-IN" sz="1200" dirty="0" smtClean="0"/>
              <a:t> = rno1 and name = name1;</a:t>
            </a:r>
          </a:p>
          <a:p>
            <a:pPr marL="0" indent="0">
              <a:buNone/>
            </a:pPr>
            <a:r>
              <a:rPr lang="en-IN" sz="1200" dirty="0" smtClean="0"/>
              <a:t>End;</a:t>
            </a:r>
          </a:p>
          <a:p>
            <a:pPr marL="0" indent="0">
              <a:buNone/>
            </a:pPr>
            <a:endParaRPr lang="en-IN" sz="1200" dirty="0" smtClean="0"/>
          </a:p>
          <a:p>
            <a:pPr marL="0" indent="0">
              <a:buNone/>
            </a:pPr>
            <a:r>
              <a:rPr lang="en-IN" sz="1200" dirty="0" smtClean="0"/>
              <a:t>$</a:t>
            </a:r>
          </a:p>
          <a:p>
            <a:pPr marL="0" indent="0">
              <a:buNone/>
            </a:pPr>
            <a:endParaRPr lang="en-IN" sz="1200" dirty="0" smtClean="0"/>
          </a:p>
          <a:p>
            <a:pPr marL="0" indent="0">
              <a:buNone/>
            </a:pPr>
            <a:r>
              <a:rPr lang="en-IN" sz="1200" dirty="0" smtClean="0"/>
              <a:t>delimiter ;</a:t>
            </a:r>
          </a:p>
          <a:p>
            <a:pPr marL="0" indent="0">
              <a:buNone/>
            </a:pPr>
            <a:endParaRPr lang="en-IN" sz="1200" dirty="0"/>
          </a:p>
        </p:txBody>
      </p:sp>
    </p:spTree>
    <p:extLst>
      <p:ext uri="{BB962C8B-B14F-4D97-AF65-F5344CB8AC3E}">
        <p14:creationId xmlns:p14="http://schemas.microsoft.com/office/powerpoint/2010/main" val="825173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5422"/>
            <a:ext cx="10515600" cy="6224530"/>
          </a:xfrm>
        </p:spPr>
        <p:txBody>
          <a:bodyPr/>
          <a:lstStyle/>
          <a:p>
            <a:endParaRPr lang="en-IN" dirty="0"/>
          </a:p>
        </p:txBody>
      </p:sp>
    </p:spTree>
    <p:extLst>
      <p:ext uri="{BB962C8B-B14F-4D97-AF65-F5344CB8AC3E}">
        <p14:creationId xmlns:p14="http://schemas.microsoft.com/office/powerpoint/2010/main" val="986109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1509</Words>
  <Application>Microsoft Office PowerPoint</Application>
  <PresentationFormat>Widescreen</PresentationFormat>
  <Paragraphs>317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staff</dc:creator>
  <cp:lastModifiedBy>Student</cp:lastModifiedBy>
  <cp:revision>5</cp:revision>
  <dcterms:created xsi:type="dcterms:W3CDTF">2025-08-07T05:14:58Z</dcterms:created>
  <dcterms:modified xsi:type="dcterms:W3CDTF">2025-08-07T06:48:18Z</dcterms:modified>
</cp:coreProperties>
</file>